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i1iyyCuB/Yy0rPJUwN2SQ6TZX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E2A7E1-34C9-4964-AB48-9E1F306D2C89}">
  <a:tblStyle styleId="{92E2A7E1-34C9-4964-AB48-9E1F306D2C8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6.xml"/><Relationship Id="rId22" Type="http://schemas.openxmlformats.org/officeDocument/2006/relationships/font" Target="fonts/Roboto-italic.fntdata"/><Relationship Id="rId10" Type="http://schemas.openxmlformats.org/officeDocument/2006/relationships/slide" Target="slides/slide5.xml"/><Relationship Id="rId21" Type="http://schemas.openxmlformats.org/officeDocument/2006/relationships/font" Target="fonts/Roboto-bold.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GB"/>
              <a:t>End users: Companies. Organisations that provides mL solutions to other organisations.</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1F3864"/>
              </a:buClr>
              <a:buSzPts val="1200"/>
              <a:buFont typeface="Calibri"/>
              <a:buNone/>
            </a:pPr>
            <a:r>
              <a:rPr lang="en-GB">
                <a:solidFill>
                  <a:srgbClr val="1F3864"/>
                </a:solidFill>
              </a:rPr>
              <a:t>IAn today's competitive business landscape, companies are constantly seeking ways to improve their products, services, and overall customer satisfaction. One way to achieve this is to leverage the power of data science, specifically focusing on natural language processing (NLP) techniques and machine learning.</a:t>
            </a:r>
            <a:endParaRPr sz="1200">
              <a:solidFill>
                <a:srgbClr val="1F3864"/>
              </a:solidFill>
            </a:endParaRPr>
          </a:p>
          <a:p>
            <a:pPr indent="-287655" lvl="0" marL="457200" rtl="0" algn="l">
              <a:spcBef>
                <a:spcPts val="1500"/>
              </a:spcBef>
              <a:spcAft>
                <a:spcPts val="0"/>
              </a:spcAft>
              <a:buClr>
                <a:schemeClr val="dk1"/>
              </a:buClr>
              <a:buSzPts val="1200"/>
              <a:buFont typeface="Calibri"/>
              <a:buChar char="●"/>
            </a:pPr>
            <a:r>
              <a:rPr lang="en-GB" sz="1200">
                <a:solidFill>
                  <a:srgbClr val="1F3864"/>
                </a:solidFill>
              </a:rPr>
              <a:t>Enhance company performance through sentiment analysis and comparative reviews using data science methodologies, focusing on Natural Language Processing (NLP) and machine learning techniques.</a:t>
            </a:r>
            <a:endParaRPr/>
          </a:p>
          <a:p>
            <a:pPr indent="-287655" lvl="0" marL="457200" rtl="0" algn="l">
              <a:spcBef>
                <a:spcPts val="0"/>
              </a:spcBef>
              <a:spcAft>
                <a:spcPts val="0"/>
              </a:spcAft>
              <a:buClr>
                <a:schemeClr val="dk1"/>
              </a:buClr>
              <a:buSzPts val="1200"/>
              <a:buFont typeface="Calibri"/>
              <a:buChar char="●"/>
            </a:pPr>
            <a:r>
              <a:rPr lang="en-GB" sz="1200">
                <a:solidFill>
                  <a:srgbClr val="1F3864"/>
                </a:solidFill>
              </a:rPr>
              <a:t>Leverage NLP and machine learning to analyze customer sentiments from 100,000 company reviews.</a:t>
            </a:r>
            <a:endParaRPr/>
          </a:p>
          <a:p>
            <a:pPr indent="-287655" lvl="0" marL="457200" rtl="0" algn="l">
              <a:spcBef>
                <a:spcPts val="0"/>
              </a:spcBef>
              <a:spcAft>
                <a:spcPts val="0"/>
              </a:spcAft>
              <a:buClr>
                <a:schemeClr val="dk1"/>
              </a:buClr>
              <a:buSzPts val="1200"/>
              <a:buFont typeface="Calibri"/>
              <a:buChar char="●"/>
            </a:pPr>
            <a:r>
              <a:rPr lang="en-GB" sz="1200">
                <a:solidFill>
                  <a:srgbClr val="1F3864"/>
                </a:solidFill>
              </a:rPr>
              <a:t>Train a pre-trained transformer-based model to predict sentiments (positive, negative, or neutral) using NLP techniques like tokenization, stemming, and feature extraction.</a:t>
            </a:r>
            <a:endParaRPr/>
          </a:p>
          <a:p>
            <a:pPr indent="-287655" lvl="0" marL="457200" rtl="0" algn="l">
              <a:spcBef>
                <a:spcPts val="0"/>
              </a:spcBef>
              <a:spcAft>
                <a:spcPts val="0"/>
              </a:spcAft>
              <a:buClr>
                <a:schemeClr val="dk1"/>
              </a:buClr>
              <a:buSzPts val="1200"/>
              <a:buFont typeface="Calibri"/>
              <a:buChar char="●"/>
            </a:pPr>
            <a:r>
              <a:rPr lang="en-GB" sz="1200">
                <a:solidFill>
                  <a:srgbClr val="1F3864"/>
                </a:solidFill>
              </a:rPr>
              <a:t>Apply topic modeling (LDA/NMF) to identify prevalent discussion topics and uncover customer preferences across companies.</a:t>
            </a:r>
            <a:endParaRPr/>
          </a:p>
          <a:p>
            <a:pPr indent="-287655" lvl="0" marL="457200" rtl="0" algn="l">
              <a:spcBef>
                <a:spcPts val="0"/>
              </a:spcBef>
              <a:spcAft>
                <a:spcPts val="0"/>
              </a:spcAft>
              <a:buClr>
                <a:schemeClr val="dk1"/>
              </a:buClr>
              <a:buSzPts val="1200"/>
              <a:buFont typeface="Calibri"/>
              <a:buChar char="●"/>
            </a:pPr>
            <a:r>
              <a:rPr lang="en-GB" sz="1200">
                <a:solidFill>
                  <a:srgbClr val="1F3864"/>
                </a:solidFill>
              </a:rPr>
              <a:t>Conduct a comparative analysis, calculating metrics (average rating, positive review percentage) and analyzing frequent topics, revealing company strengths and weaknesses.</a:t>
            </a:r>
            <a:endParaRPr/>
          </a:p>
          <a:p>
            <a:pPr indent="-287655" lvl="0" marL="457200" rtl="0" algn="l">
              <a:spcBef>
                <a:spcPts val="0"/>
              </a:spcBef>
              <a:spcAft>
                <a:spcPts val="0"/>
              </a:spcAft>
              <a:buClr>
                <a:schemeClr val="dk1"/>
              </a:buClr>
              <a:buSzPts val="1200"/>
              <a:buFont typeface="Calibri"/>
              <a:buChar char="●"/>
            </a:pPr>
            <a:r>
              <a:rPr lang="en-GB" sz="1200">
                <a:solidFill>
                  <a:srgbClr val="1F3864"/>
                </a:solidFill>
              </a:rPr>
              <a:t>Utilize aspect-based sentiment analysis (NER/POS tagging) to pinpoint specific aspects like customer service, product quality, and pricing for a granular understanding of customer satisfaction.</a:t>
            </a:r>
            <a:endParaRPr/>
          </a:p>
          <a:p>
            <a:pPr indent="-287655" lvl="0" marL="457200" rtl="0" algn="l">
              <a:spcBef>
                <a:spcPts val="0"/>
              </a:spcBef>
              <a:spcAft>
                <a:spcPts val="0"/>
              </a:spcAft>
              <a:buClr>
                <a:schemeClr val="dk1"/>
              </a:buClr>
              <a:buSzPts val="1200"/>
              <a:buFont typeface="Calibri"/>
              <a:buChar char="●"/>
            </a:pPr>
            <a:r>
              <a:rPr lang="en-GB" sz="1200">
                <a:solidFill>
                  <a:srgbClr val="1F3864"/>
                </a:solidFill>
              </a:rPr>
              <a:t>Aim to deliver actionable insights and recommendations to companies for product, service, and customer satisfaction improvements.</a:t>
            </a:r>
            <a:endParaRPr/>
          </a:p>
          <a:p>
            <a:pPr indent="0" lvl="0" marL="0" rtl="0" algn="l">
              <a:spcBef>
                <a:spcPts val="0"/>
              </a:spcBef>
              <a:spcAft>
                <a:spcPts val="0"/>
              </a:spcAft>
              <a:buNone/>
            </a:pPr>
            <a:r>
              <a:t/>
            </a:r>
            <a:endParaRPr/>
          </a:p>
        </p:txBody>
      </p:sp>
      <p:sp>
        <p:nvSpPr>
          <p:cNvPr id="104" name="Google Shape;10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F3864"/>
              </a:buClr>
              <a:buSzPts val="1200"/>
              <a:buFont typeface="Calibri"/>
              <a:buNone/>
            </a:pPr>
            <a:r>
              <a:rPr lang="en-GB">
                <a:solidFill>
                  <a:srgbClr val="1F3864"/>
                </a:solidFill>
              </a:rPr>
              <a:t>This project aims to develop a comprehensive understanding of customer sentiments expressed in company reviews and utilize this information to improve product and service quality. The project will involve several key components, including:</a:t>
            </a:r>
            <a:endParaRPr/>
          </a:p>
          <a:p>
            <a:pPr indent="0" lvl="0" marL="0" rtl="0" algn="l">
              <a:spcBef>
                <a:spcPts val="0"/>
              </a:spcBef>
              <a:spcAft>
                <a:spcPts val="0"/>
              </a:spcAft>
              <a:buNone/>
            </a:pPr>
            <a:r>
              <a:t/>
            </a:r>
            <a:endParaRPr/>
          </a:p>
        </p:txBody>
      </p:sp>
      <p:sp>
        <p:nvSpPr>
          <p:cNvPr id="115" name="Google Shape;11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a66fe91e16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a66fe91e16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2a66fe91e16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a66fe91e16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a66fe91e16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2a66fe91e16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a66fe91e1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a66fe91e1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2a66fe91e1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a66fe91e16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a66fe91e16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2a66fe91e16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a66fe91e16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a66fe91e16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2a66fe91e16_0_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a6c6c2ddf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2a6c6c2ddf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a66fe91e16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a66fe91e16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2a66fe91e16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GB"/>
              <a:t>Used languages and tool.</a:t>
            </a:r>
            <a:br>
              <a:rPr lang="en-GB"/>
            </a:br>
            <a:endParaRPr/>
          </a:p>
        </p:txBody>
      </p:sp>
      <p:sp>
        <p:nvSpPr>
          <p:cNvPr id="219" name="Google Shape;21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9"/>
          <p:cNvSpPr/>
          <p:nvPr>
            <p:ph idx="2" type="pic"/>
          </p:nvPr>
        </p:nvSpPr>
        <p:spPr>
          <a:xfrm>
            <a:off x="5183188" y="987425"/>
            <a:ext cx="6172200" cy="4873625"/>
          </a:xfrm>
          <a:prstGeom prst="rect">
            <a:avLst/>
          </a:prstGeom>
          <a:noFill/>
          <a:ln>
            <a:noFill/>
          </a:ln>
        </p:spPr>
      </p:sp>
      <p:sp>
        <p:nvSpPr>
          <p:cNvPr id="68" name="Google Shape;68;p1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4.png"/><Relationship Id="rId7" Type="http://schemas.openxmlformats.org/officeDocument/2006/relationships/image" Target="../media/image13.png"/><Relationship Id="rId8"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4.png"/><Relationship Id="rId7" Type="http://schemas.openxmlformats.org/officeDocument/2006/relationships/image" Target="../media/image13.png"/><Relationship Id="rId8"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73763"/>
              </a:buClr>
              <a:buSzPts val="3600"/>
              <a:buFont typeface="Calibri"/>
              <a:buNone/>
            </a:pPr>
            <a:r>
              <a:rPr b="1" lang="en-GB" sz="3600">
                <a:solidFill>
                  <a:srgbClr val="073763"/>
                </a:solidFill>
              </a:rPr>
              <a:t>Leveraging NLP for Enhanced Company Performance: Transformer-Based Sentiment Analysis and Comparative Review</a:t>
            </a:r>
            <a:endParaRPr sz="3600"/>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073763"/>
              </a:buClr>
              <a:buSzPts val="1800"/>
              <a:buNone/>
            </a:pPr>
            <a:r>
              <a:rPr lang="en-GB" sz="1800">
                <a:solidFill>
                  <a:srgbClr val="073763"/>
                </a:solidFill>
              </a:rPr>
              <a:t>by</a:t>
            </a:r>
            <a:endParaRPr/>
          </a:p>
          <a:p>
            <a:pPr indent="0" lvl="0" marL="0" rtl="0" algn="ctr">
              <a:lnSpc>
                <a:spcPct val="90000"/>
              </a:lnSpc>
              <a:spcBef>
                <a:spcPts val="0"/>
              </a:spcBef>
              <a:spcAft>
                <a:spcPts val="0"/>
              </a:spcAft>
              <a:buClr>
                <a:schemeClr val="dk1"/>
              </a:buClr>
              <a:buSzPts val="2400"/>
              <a:buNone/>
            </a:pPr>
            <a:r>
              <a:t/>
            </a:r>
            <a:endParaRPr sz="2400">
              <a:solidFill>
                <a:srgbClr val="073763"/>
              </a:solidFill>
            </a:endParaRPr>
          </a:p>
          <a:p>
            <a:pPr indent="0" lvl="0" marL="0" rtl="0" algn="ctr">
              <a:lnSpc>
                <a:spcPct val="90000"/>
              </a:lnSpc>
              <a:spcBef>
                <a:spcPts val="0"/>
              </a:spcBef>
              <a:spcAft>
                <a:spcPts val="0"/>
              </a:spcAft>
              <a:buClr>
                <a:srgbClr val="073763"/>
              </a:buClr>
              <a:buSzPts val="2400"/>
              <a:buNone/>
            </a:pPr>
            <a:r>
              <a:rPr lang="en-GB" sz="2400">
                <a:solidFill>
                  <a:srgbClr val="073763"/>
                </a:solidFill>
              </a:rPr>
              <a:t>Dinuja R. Perera | 001273076</a:t>
            </a:r>
            <a:endParaRPr/>
          </a:p>
          <a:p>
            <a:pPr indent="0" lvl="0" marL="0" rtl="0" algn="ctr">
              <a:lnSpc>
                <a:spcPct val="90000"/>
              </a:lnSpc>
              <a:spcBef>
                <a:spcPts val="0"/>
              </a:spcBef>
              <a:spcAft>
                <a:spcPts val="0"/>
              </a:spcAft>
              <a:buClr>
                <a:srgbClr val="073763"/>
              </a:buClr>
              <a:buSzPts val="2400"/>
              <a:buNone/>
            </a:pPr>
            <a:r>
              <a:rPr lang="en-GB" sz="2400">
                <a:solidFill>
                  <a:srgbClr val="073763"/>
                </a:solidFill>
              </a:rPr>
              <a:t>Supervisor: Dr. Konstantin Kapinchev</a:t>
            </a:r>
            <a:endParaRPr sz="2400">
              <a:solidFill>
                <a:srgbClr val="073763"/>
              </a:solidFill>
            </a:endParaRPr>
          </a:p>
          <a:p>
            <a:pPr indent="0" lvl="0" marL="0" rtl="0" algn="ctr">
              <a:lnSpc>
                <a:spcPct val="90000"/>
              </a:lnSpc>
              <a:spcBef>
                <a:spcPts val="1000"/>
              </a:spcBef>
              <a:spcAft>
                <a:spcPts val="0"/>
              </a:spcAft>
              <a:buClr>
                <a:schemeClr val="dk1"/>
              </a:buClr>
              <a:buSzPts val="2400"/>
              <a:buNone/>
            </a:pPr>
            <a:r>
              <a:t/>
            </a:r>
            <a:endParaRPr/>
          </a:p>
        </p:txBody>
      </p:sp>
      <p:sp>
        <p:nvSpPr>
          <p:cNvPr id="90" name="Google Shape;90;p1"/>
          <p:cNvSpPr txBox="1"/>
          <p:nvPr/>
        </p:nvSpPr>
        <p:spPr>
          <a:xfrm>
            <a:off x="1140643" y="706994"/>
            <a:ext cx="1025636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2060"/>
              </a:buClr>
              <a:buSzPts val="1800"/>
              <a:buFont typeface="Calibri"/>
              <a:buNone/>
            </a:pPr>
            <a:r>
              <a:rPr b="0" i="0" lang="en-GB" sz="1800" u="none" cap="none" strike="noStrike">
                <a:solidFill>
                  <a:srgbClr val="002060"/>
                </a:solidFill>
                <a:latin typeface="Calibri"/>
                <a:ea typeface="Calibri"/>
                <a:cs typeface="Calibri"/>
                <a:sym typeface="Calibri"/>
              </a:rPr>
              <a:t>MSc Data Science (2023/2024),Department of Mathematics and Computer Science, University of Greenwich</a:t>
            </a:r>
            <a:endParaRPr b="0" i="0" sz="2400" u="none" cap="none" strike="noStrike">
              <a:solidFill>
                <a:srgbClr val="00206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E4E79"/>
              </a:buClr>
              <a:buSzPts val="4400"/>
              <a:buFont typeface="Calibri"/>
              <a:buNone/>
            </a:pPr>
            <a:r>
              <a:rPr b="1" lang="en-GB">
                <a:solidFill>
                  <a:srgbClr val="1E4E79"/>
                </a:solidFill>
              </a:rPr>
              <a:t>Problem</a:t>
            </a:r>
            <a:endParaRPr/>
          </a:p>
        </p:txBody>
      </p:sp>
      <p:sp>
        <p:nvSpPr>
          <p:cNvPr id="96" name="Google Shape;96;p2"/>
          <p:cNvSpPr txBox="1"/>
          <p:nvPr>
            <p:ph idx="1" type="body"/>
          </p:nvPr>
        </p:nvSpPr>
        <p:spPr>
          <a:xfrm>
            <a:off x="838200" y="1554224"/>
            <a:ext cx="10515600" cy="374955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1F3864"/>
              </a:buClr>
              <a:buSzPts val="2800"/>
              <a:buNone/>
            </a:pPr>
            <a:r>
              <a:rPr b="0" i="0" lang="en-GB" sz="2800" u="none" strike="noStrike">
                <a:solidFill>
                  <a:srgbClr val="1F3864"/>
                </a:solidFill>
              </a:rPr>
              <a:t>How can </a:t>
            </a:r>
            <a:endParaRPr/>
          </a:p>
          <a:p>
            <a:pPr indent="0" lvl="0" marL="0" rtl="0" algn="ctr">
              <a:lnSpc>
                <a:spcPct val="90000"/>
              </a:lnSpc>
              <a:spcBef>
                <a:spcPts val="1000"/>
              </a:spcBef>
              <a:spcAft>
                <a:spcPts val="0"/>
              </a:spcAft>
              <a:buClr>
                <a:srgbClr val="1F3864"/>
              </a:buClr>
              <a:buSzPts val="2800"/>
              <a:buNone/>
            </a:pPr>
            <a:r>
              <a:rPr b="0" i="0" lang="en-GB" sz="2800" u="none" strike="noStrike">
                <a:solidFill>
                  <a:srgbClr val="1F3864"/>
                </a:solidFill>
              </a:rPr>
              <a:t>the analysis of Company </a:t>
            </a:r>
            <a:r>
              <a:rPr lang="en-GB">
                <a:solidFill>
                  <a:srgbClr val="1F3864"/>
                </a:solidFill>
              </a:rPr>
              <a:t>R</a:t>
            </a:r>
            <a:r>
              <a:rPr b="0" i="0" lang="en-GB" sz="2800" u="none" strike="noStrike">
                <a:solidFill>
                  <a:srgbClr val="1F3864"/>
                </a:solidFill>
              </a:rPr>
              <a:t>eviews </a:t>
            </a:r>
            <a:endParaRPr/>
          </a:p>
          <a:p>
            <a:pPr indent="0" lvl="0" marL="0" rtl="0" algn="ctr">
              <a:lnSpc>
                <a:spcPct val="90000"/>
              </a:lnSpc>
              <a:spcBef>
                <a:spcPts val="1000"/>
              </a:spcBef>
              <a:spcAft>
                <a:spcPts val="0"/>
              </a:spcAft>
              <a:buClr>
                <a:srgbClr val="1F3864"/>
              </a:buClr>
              <a:buSzPts val="2800"/>
              <a:buNone/>
            </a:pPr>
            <a:r>
              <a:rPr b="0" i="0" lang="en-GB" sz="2800" u="none" strike="noStrike">
                <a:solidFill>
                  <a:srgbClr val="1F3864"/>
                </a:solidFill>
              </a:rPr>
              <a:t>be utilised to extract insights </a:t>
            </a:r>
            <a:endParaRPr/>
          </a:p>
          <a:p>
            <a:pPr indent="0" lvl="0" marL="0" rtl="0" algn="ctr">
              <a:lnSpc>
                <a:spcPct val="90000"/>
              </a:lnSpc>
              <a:spcBef>
                <a:spcPts val="1000"/>
              </a:spcBef>
              <a:spcAft>
                <a:spcPts val="0"/>
              </a:spcAft>
              <a:buClr>
                <a:srgbClr val="1F3864"/>
              </a:buClr>
              <a:buSzPts val="2800"/>
              <a:buNone/>
            </a:pPr>
            <a:r>
              <a:rPr b="0" i="0" lang="en-GB" sz="2800" u="none" strike="noStrike">
                <a:solidFill>
                  <a:srgbClr val="1F3864"/>
                </a:solidFill>
              </a:rPr>
              <a:t>beneficial for </a:t>
            </a:r>
            <a:endParaRPr/>
          </a:p>
          <a:p>
            <a:pPr indent="0" lvl="0" marL="0" rtl="0" algn="ctr">
              <a:lnSpc>
                <a:spcPct val="90000"/>
              </a:lnSpc>
              <a:spcBef>
                <a:spcPts val="1000"/>
              </a:spcBef>
              <a:spcAft>
                <a:spcPts val="0"/>
              </a:spcAft>
              <a:buClr>
                <a:srgbClr val="1F3864"/>
              </a:buClr>
              <a:buSzPts val="2800"/>
              <a:buNone/>
            </a:pPr>
            <a:r>
              <a:rPr b="0" i="0" lang="en-GB" sz="2800" u="none" strike="noStrike">
                <a:solidFill>
                  <a:srgbClr val="1F3864"/>
                </a:solidFill>
              </a:rPr>
              <a:t>companies?</a:t>
            </a:r>
            <a:endParaRPr>
              <a:solidFill>
                <a:srgbClr val="1F3864"/>
              </a:solidFill>
            </a:endParaRPr>
          </a:p>
          <a:p>
            <a:pPr indent="-50800" lvl="0" marL="228600" rtl="0" algn="l">
              <a:lnSpc>
                <a:spcPct val="90000"/>
              </a:lnSpc>
              <a:spcBef>
                <a:spcPts val="1000"/>
              </a:spcBef>
              <a:spcAft>
                <a:spcPts val="0"/>
              </a:spcAft>
              <a:buClr>
                <a:schemeClr val="dk1"/>
              </a:buClr>
              <a:buSzPts val="2800"/>
              <a:buNone/>
            </a:pPr>
            <a:r>
              <a:t/>
            </a:r>
            <a:endParaRPr/>
          </a:p>
        </p:txBody>
      </p:sp>
      <p:sp>
        <p:nvSpPr>
          <p:cNvPr id="97" name="Google Shape;97;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14/12/2023</a:t>
            </a:r>
            <a:endParaRPr/>
          </a:p>
        </p:txBody>
      </p:sp>
      <p:sp>
        <p:nvSpPr>
          <p:cNvPr id="98" name="Google Shape;98;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MSc Project Presentation -  Mrs Dinuja R Perera</a:t>
            </a:r>
            <a:endParaRPr/>
          </a:p>
        </p:txBody>
      </p:sp>
      <p:sp>
        <p:nvSpPr>
          <p:cNvPr id="99" name="Google Shape;9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descr="A black and white logo&#10;&#10;Description automatically generated" id="100" name="Google Shape;100;p2"/>
          <p:cNvPicPr preferRelativeResize="0"/>
          <p:nvPr/>
        </p:nvPicPr>
        <p:blipFill rotWithShape="1">
          <a:blip r:embed="rId3">
            <a:alphaModFix/>
          </a:blip>
          <a:srcRect b="0" l="0" r="0" t="0"/>
          <a:stretch/>
        </p:blipFill>
        <p:spPr>
          <a:xfrm>
            <a:off x="5600126" y="4242472"/>
            <a:ext cx="1389410" cy="151022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E4E79"/>
              </a:buClr>
              <a:buSzPts val="4400"/>
              <a:buFont typeface="Calibri"/>
              <a:buNone/>
            </a:pPr>
            <a:r>
              <a:rPr b="1" lang="en-GB">
                <a:solidFill>
                  <a:srgbClr val="1E4E79"/>
                </a:solidFill>
              </a:rPr>
              <a:t>Goal</a:t>
            </a:r>
            <a:endParaRPr/>
          </a:p>
        </p:txBody>
      </p:sp>
      <p:sp>
        <p:nvSpPr>
          <p:cNvPr id="107" name="Google Shape;107;p3"/>
          <p:cNvSpPr txBox="1"/>
          <p:nvPr>
            <p:ph idx="1" type="body"/>
          </p:nvPr>
        </p:nvSpPr>
        <p:spPr>
          <a:xfrm>
            <a:off x="838200" y="1512402"/>
            <a:ext cx="10515600" cy="4880700"/>
          </a:xfrm>
          <a:prstGeom prst="rect">
            <a:avLst/>
          </a:prstGeom>
          <a:noFill/>
          <a:ln>
            <a:noFill/>
          </a:ln>
        </p:spPr>
        <p:txBody>
          <a:bodyPr anchorCtr="0" anchor="t" bIns="45700" lIns="91425" spcFirstLastPara="1" rIns="91425" wrap="square" tIns="45700">
            <a:normAutofit/>
          </a:bodyPr>
          <a:lstStyle/>
          <a:p>
            <a:pPr indent="0" lvl="0" marL="228600" rtl="0" algn="ctr">
              <a:lnSpc>
                <a:spcPct val="100000"/>
              </a:lnSpc>
              <a:spcBef>
                <a:spcPts val="0"/>
              </a:spcBef>
              <a:spcAft>
                <a:spcPts val="0"/>
              </a:spcAft>
              <a:buNone/>
            </a:pPr>
            <a:r>
              <a:rPr lang="en-GB" sz="2675">
                <a:solidFill>
                  <a:srgbClr val="1F3864"/>
                </a:solidFill>
              </a:rPr>
              <a:t>Analysing company reviews </a:t>
            </a:r>
            <a:endParaRPr sz="2675">
              <a:solidFill>
                <a:srgbClr val="1F3864"/>
              </a:solidFill>
            </a:endParaRPr>
          </a:p>
          <a:p>
            <a:pPr indent="0" lvl="0" marL="228600" rtl="0" algn="ctr">
              <a:lnSpc>
                <a:spcPct val="100000"/>
              </a:lnSpc>
              <a:spcBef>
                <a:spcPts val="0"/>
              </a:spcBef>
              <a:spcAft>
                <a:spcPts val="0"/>
              </a:spcAft>
              <a:buNone/>
            </a:pPr>
            <a:r>
              <a:rPr lang="en-GB" sz="2675">
                <a:solidFill>
                  <a:srgbClr val="1F3864"/>
                </a:solidFill>
              </a:rPr>
              <a:t>across industries </a:t>
            </a:r>
            <a:endParaRPr sz="2675">
              <a:solidFill>
                <a:srgbClr val="1F3864"/>
              </a:solidFill>
            </a:endParaRPr>
          </a:p>
          <a:p>
            <a:pPr indent="0" lvl="0" marL="228600" rtl="0" algn="ctr">
              <a:lnSpc>
                <a:spcPct val="100000"/>
              </a:lnSpc>
              <a:spcBef>
                <a:spcPts val="0"/>
              </a:spcBef>
              <a:spcAft>
                <a:spcPts val="0"/>
              </a:spcAft>
              <a:buNone/>
            </a:pPr>
            <a:r>
              <a:rPr lang="en-GB" sz="2675">
                <a:solidFill>
                  <a:srgbClr val="1F3864"/>
                </a:solidFill>
              </a:rPr>
              <a:t>to extract insights </a:t>
            </a:r>
            <a:endParaRPr sz="2675">
              <a:solidFill>
                <a:srgbClr val="1F3864"/>
              </a:solidFill>
            </a:endParaRPr>
          </a:p>
          <a:p>
            <a:pPr indent="0" lvl="0" marL="228600" rtl="0" algn="ctr">
              <a:lnSpc>
                <a:spcPct val="100000"/>
              </a:lnSpc>
              <a:spcBef>
                <a:spcPts val="0"/>
              </a:spcBef>
              <a:spcAft>
                <a:spcPts val="0"/>
              </a:spcAft>
              <a:buNone/>
            </a:pPr>
            <a:r>
              <a:rPr lang="en-GB" sz="2675">
                <a:solidFill>
                  <a:srgbClr val="1F3864"/>
                </a:solidFill>
              </a:rPr>
              <a:t>regarding employee sentiments </a:t>
            </a:r>
            <a:endParaRPr sz="2675">
              <a:solidFill>
                <a:srgbClr val="1F3864"/>
              </a:solidFill>
            </a:endParaRPr>
          </a:p>
          <a:p>
            <a:pPr indent="0" lvl="0" marL="228600" rtl="0" algn="ctr">
              <a:lnSpc>
                <a:spcPct val="100000"/>
              </a:lnSpc>
              <a:spcBef>
                <a:spcPts val="0"/>
              </a:spcBef>
              <a:spcAft>
                <a:spcPts val="0"/>
              </a:spcAft>
              <a:buNone/>
            </a:pPr>
            <a:r>
              <a:rPr lang="en-GB" sz="2675">
                <a:solidFill>
                  <a:srgbClr val="1F3864"/>
                </a:solidFill>
              </a:rPr>
              <a:t>and </a:t>
            </a:r>
            <a:endParaRPr sz="2675">
              <a:solidFill>
                <a:srgbClr val="1F3864"/>
              </a:solidFill>
            </a:endParaRPr>
          </a:p>
          <a:p>
            <a:pPr indent="0" lvl="0" marL="228600" rtl="0" algn="ctr">
              <a:lnSpc>
                <a:spcPct val="100000"/>
              </a:lnSpc>
              <a:spcBef>
                <a:spcPts val="0"/>
              </a:spcBef>
              <a:spcAft>
                <a:spcPts val="0"/>
              </a:spcAft>
              <a:buNone/>
            </a:pPr>
            <a:r>
              <a:rPr lang="en-GB" sz="2675">
                <a:solidFill>
                  <a:srgbClr val="1F3864"/>
                </a:solidFill>
              </a:rPr>
              <a:t>company perceptions.</a:t>
            </a:r>
            <a:endParaRPr sz="1600"/>
          </a:p>
        </p:txBody>
      </p:sp>
      <p:sp>
        <p:nvSpPr>
          <p:cNvPr id="108" name="Google Shape;10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14/12/2023</a:t>
            </a:r>
            <a:endParaRPr/>
          </a:p>
        </p:txBody>
      </p:sp>
      <p:sp>
        <p:nvSpPr>
          <p:cNvPr id="109" name="Google Shape;10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MSc Project Presentation -  Mrs Dinuja R Perera</a:t>
            </a:r>
            <a:endParaRPr/>
          </a:p>
        </p:txBody>
      </p:sp>
      <p:sp>
        <p:nvSpPr>
          <p:cNvPr id="110" name="Google Shape;11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111" name="Google Shape;111;p3"/>
          <p:cNvPicPr preferRelativeResize="0"/>
          <p:nvPr/>
        </p:nvPicPr>
        <p:blipFill rotWithShape="1">
          <a:blip r:embed="rId3">
            <a:alphaModFix/>
          </a:blip>
          <a:srcRect b="12812" l="8568" r="12091" t="12258"/>
          <a:stretch/>
        </p:blipFill>
        <p:spPr>
          <a:xfrm>
            <a:off x="5096583" y="4404100"/>
            <a:ext cx="1998829" cy="1887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F3864"/>
              </a:buClr>
              <a:buSzPts val="4400"/>
              <a:buFont typeface="Calibri"/>
              <a:buNone/>
            </a:pPr>
            <a:r>
              <a:rPr b="1" lang="en-GB">
                <a:solidFill>
                  <a:srgbClr val="1F3864"/>
                </a:solidFill>
              </a:rPr>
              <a:t>Project Objectives</a:t>
            </a:r>
            <a:endParaRPr b="1">
              <a:solidFill>
                <a:srgbClr val="1F3864"/>
              </a:solidFill>
            </a:endParaRPr>
          </a:p>
        </p:txBody>
      </p:sp>
      <p:sp>
        <p:nvSpPr>
          <p:cNvPr id="118" name="Google Shape;118;p4"/>
          <p:cNvSpPr txBox="1"/>
          <p:nvPr>
            <p:ph idx="1" type="body"/>
          </p:nvPr>
        </p:nvSpPr>
        <p:spPr>
          <a:xfrm>
            <a:off x="838200" y="1411550"/>
            <a:ext cx="10515600" cy="4765413"/>
          </a:xfrm>
          <a:prstGeom prst="rect">
            <a:avLst/>
          </a:prstGeom>
          <a:noFill/>
          <a:ln>
            <a:noFill/>
          </a:ln>
        </p:spPr>
        <p:txBody>
          <a:bodyPr anchorCtr="0" anchor="t" bIns="45700" lIns="91425" spcFirstLastPara="1" rIns="91425" wrap="square" tIns="45700">
            <a:normAutofit fontScale="32500" lnSpcReduction="10000"/>
          </a:bodyPr>
          <a:lstStyle/>
          <a:p>
            <a:pPr indent="-317948" lvl="0" marL="457200" rtl="0" algn="l">
              <a:lnSpc>
                <a:spcPct val="150000"/>
              </a:lnSpc>
              <a:spcBef>
                <a:spcPts val="0"/>
              </a:spcBef>
              <a:spcAft>
                <a:spcPts val="0"/>
              </a:spcAft>
              <a:buClr>
                <a:srgbClr val="1F3864"/>
              </a:buClr>
              <a:buSzPct val="100000"/>
              <a:buChar char="●"/>
            </a:pPr>
            <a:r>
              <a:rPr lang="en-GB" sz="7006">
                <a:solidFill>
                  <a:srgbClr val="1F3864"/>
                </a:solidFill>
              </a:rPr>
              <a:t>Sentiment Analysis: </a:t>
            </a:r>
            <a:endParaRPr sz="7406"/>
          </a:p>
          <a:p>
            <a:pPr indent="0" lvl="1" marL="588645" rtl="0" algn="l">
              <a:lnSpc>
                <a:spcPct val="100000"/>
              </a:lnSpc>
              <a:spcBef>
                <a:spcPts val="0"/>
              </a:spcBef>
              <a:spcAft>
                <a:spcPts val="0"/>
              </a:spcAft>
              <a:buClr>
                <a:srgbClr val="1F3864"/>
              </a:buClr>
              <a:buSzPct val="28097"/>
              <a:buNone/>
            </a:pPr>
            <a:r>
              <a:rPr lang="en-GB" sz="6406">
                <a:solidFill>
                  <a:srgbClr val="1F3864"/>
                </a:solidFill>
              </a:rPr>
              <a:t>-  A pre-trained transformer-based model </a:t>
            </a:r>
            <a:endParaRPr sz="7006"/>
          </a:p>
          <a:p>
            <a:pPr indent="0" lvl="1" marL="588645" rtl="0" algn="l">
              <a:lnSpc>
                <a:spcPct val="100000"/>
              </a:lnSpc>
              <a:spcBef>
                <a:spcPts val="1200"/>
              </a:spcBef>
              <a:spcAft>
                <a:spcPts val="0"/>
              </a:spcAft>
              <a:buClr>
                <a:srgbClr val="1F3864"/>
              </a:buClr>
              <a:buSzPct val="28097"/>
              <a:buNone/>
            </a:pPr>
            <a:r>
              <a:rPr lang="en-GB" sz="6406">
                <a:solidFill>
                  <a:srgbClr val="1F3864"/>
                </a:solidFill>
              </a:rPr>
              <a:t>-  Predict the sentiment (positive or negative) of a review based on its text.</a:t>
            </a:r>
            <a:endParaRPr sz="7006"/>
          </a:p>
          <a:p>
            <a:pPr indent="-317948" lvl="0" marL="457200" rtl="0" algn="l">
              <a:lnSpc>
                <a:spcPct val="150000"/>
              </a:lnSpc>
              <a:spcBef>
                <a:spcPts val="0"/>
              </a:spcBef>
              <a:spcAft>
                <a:spcPts val="0"/>
              </a:spcAft>
              <a:buClr>
                <a:srgbClr val="1F3864"/>
              </a:buClr>
              <a:buSzPct val="100000"/>
              <a:buChar char="●"/>
            </a:pPr>
            <a:r>
              <a:rPr lang="en-GB" sz="7006">
                <a:solidFill>
                  <a:srgbClr val="1F3864"/>
                </a:solidFill>
              </a:rPr>
              <a:t>Topic Modelling: </a:t>
            </a:r>
            <a:endParaRPr sz="7406"/>
          </a:p>
          <a:p>
            <a:pPr indent="0" lvl="1" marL="588645" rtl="0" algn="l">
              <a:lnSpc>
                <a:spcPct val="150000"/>
              </a:lnSpc>
              <a:spcBef>
                <a:spcPts val="0"/>
              </a:spcBef>
              <a:spcAft>
                <a:spcPts val="0"/>
              </a:spcAft>
              <a:buClr>
                <a:srgbClr val="1F3864"/>
              </a:buClr>
              <a:buSzPct val="28097"/>
              <a:buNone/>
            </a:pPr>
            <a:r>
              <a:rPr lang="en-GB" sz="6406">
                <a:solidFill>
                  <a:srgbClr val="1F3864"/>
                </a:solidFill>
              </a:rPr>
              <a:t>- Identify the prevalent topics discussed in the reviews.</a:t>
            </a:r>
            <a:endParaRPr sz="7006"/>
          </a:p>
          <a:p>
            <a:pPr indent="-317948" lvl="0" marL="457200" rtl="0" algn="l">
              <a:lnSpc>
                <a:spcPct val="150000"/>
              </a:lnSpc>
              <a:spcBef>
                <a:spcPts val="0"/>
              </a:spcBef>
              <a:spcAft>
                <a:spcPts val="0"/>
              </a:spcAft>
              <a:buClr>
                <a:srgbClr val="1F3864"/>
              </a:buClr>
              <a:buSzPct val="100000"/>
              <a:buChar char="●"/>
            </a:pPr>
            <a:r>
              <a:rPr lang="en-GB" sz="7006">
                <a:solidFill>
                  <a:srgbClr val="1F3864"/>
                </a:solidFill>
              </a:rPr>
              <a:t>Comparative Analysis: </a:t>
            </a:r>
            <a:endParaRPr sz="7406"/>
          </a:p>
          <a:p>
            <a:pPr indent="0" lvl="1" marL="588645" rtl="0" algn="l">
              <a:lnSpc>
                <a:spcPct val="150000"/>
              </a:lnSpc>
              <a:spcBef>
                <a:spcPts val="0"/>
              </a:spcBef>
              <a:spcAft>
                <a:spcPts val="0"/>
              </a:spcAft>
              <a:buClr>
                <a:srgbClr val="1F3864"/>
              </a:buClr>
              <a:buSzPct val="28097"/>
              <a:buNone/>
            </a:pPr>
            <a:r>
              <a:rPr lang="en-GB" sz="6406">
                <a:solidFill>
                  <a:srgbClr val="1F3864"/>
                </a:solidFill>
              </a:rPr>
              <a:t>- By aggregating and analysing the reviews for each company.</a:t>
            </a:r>
            <a:endParaRPr sz="7006"/>
          </a:p>
          <a:p>
            <a:pPr indent="-328235" lvl="0" marL="457200" rtl="0" algn="l">
              <a:lnSpc>
                <a:spcPct val="150000"/>
              </a:lnSpc>
              <a:spcBef>
                <a:spcPts val="0"/>
              </a:spcBef>
              <a:spcAft>
                <a:spcPts val="0"/>
              </a:spcAft>
              <a:buClr>
                <a:srgbClr val="1F3864"/>
              </a:buClr>
              <a:buSzPct val="96574"/>
              <a:buChar char="●"/>
            </a:pPr>
            <a:r>
              <a:rPr lang="en-GB" sz="7006">
                <a:solidFill>
                  <a:srgbClr val="1F3864"/>
                </a:solidFill>
              </a:rPr>
              <a:t>Aspect-Based Sentiment Analysis: </a:t>
            </a:r>
            <a:endParaRPr sz="7406"/>
          </a:p>
          <a:p>
            <a:pPr indent="0" lvl="1" marL="588645" rtl="0" algn="l">
              <a:lnSpc>
                <a:spcPct val="100000"/>
              </a:lnSpc>
              <a:spcBef>
                <a:spcPts val="0"/>
              </a:spcBef>
              <a:spcAft>
                <a:spcPts val="0"/>
              </a:spcAft>
              <a:buClr>
                <a:srgbClr val="1F3864"/>
              </a:buClr>
              <a:buSzPct val="25287"/>
              <a:buNone/>
            </a:pPr>
            <a:r>
              <a:rPr lang="en-GB" sz="6406">
                <a:solidFill>
                  <a:srgbClr val="1F3864"/>
                </a:solidFill>
              </a:rPr>
              <a:t>-  To identify specific aspects mentioned in the reviews and determine the sentiment of each aspect.</a:t>
            </a:r>
            <a:endParaRPr sz="6406">
              <a:solidFill>
                <a:srgbClr val="1F3864"/>
              </a:solidFill>
            </a:endParaRPr>
          </a:p>
          <a:p>
            <a:pPr indent="-456406" lvl="0" marL="457200" rtl="0" algn="l">
              <a:lnSpc>
                <a:spcPct val="100000"/>
              </a:lnSpc>
              <a:spcBef>
                <a:spcPts val="0"/>
              </a:spcBef>
              <a:spcAft>
                <a:spcPts val="0"/>
              </a:spcAft>
              <a:buClr>
                <a:srgbClr val="1F3864"/>
              </a:buClr>
              <a:buSzPct val="171856"/>
              <a:buChar char="•"/>
            </a:pPr>
            <a:r>
              <a:rPr lang="en-GB" sz="6423">
                <a:solidFill>
                  <a:srgbClr val="1F3864"/>
                </a:solidFill>
              </a:rPr>
              <a:t>Generate an Interactive Dashboard for Visualization.</a:t>
            </a:r>
            <a:endParaRPr sz="6423">
              <a:solidFill>
                <a:srgbClr val="1F3864"/>
              </a:solidFill>
            </a:endParaRPr>
          </a:p>
        </p:txBody>
      </p:sp>
      <p:sp>
        <p:nvSpPr>
          <p:cNvPr id="119" name="Google Shape;119;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14/12/2023</a:t>
            </a:r>
            <a:endParaRPr/>
          </a:p>
        </p:txBody>
      </p:sp>
      <p:sp>
        <p:nvSpPr>
          <p:cNvPr id="120" name="Google Shape;120;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MSc Project Presentation -  Mrs Dinuja R Perera</a:t>
            </a:r>
            <a:endParaRPr/>
          </a:p>
        </p:txBody>
      </p:sp>
      <p:sp>
        <p:nvSpPr>
          <p:cNvPr id="121" name="Google Shape;12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2a66fe91e16_0_7"/>
          <p:cNvSpPr txBox="1"/>
          <p:nvPr>
            <p:ph type="title"/>
          </p:nvPr>
        </p:nvSpPr>
        <p:spPr>
          <a:xfrm>
            <a:off x="838200" y="365125"/>
            <a:ext cx="10515600" cy="11370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GB">
                <a:solidFill>
                  <a:srgbClr val="1E4E79"/>
                </a:solidFill>
              </a:rPr>
              <a:t>Why using Transformers?</a:t>
            </a:r>
            <a:endParaRPr b="1" sz="6000">
              <a:solidFill>
                <a:srgbClr val="1E4E79"/>
              </a:solidFill>
            </a:endParaRPr>
          </a:p>
        </p:txBody>
      </p:sp>
      <p:sp>
        <p:nvSpPr>
          <p:cNvPr id="128" name="Google Shape;128;g2a66fe91e16_0_7"/>
          <p:cNvSpPr txBox="1"/>
          <p:nvPr>
            <p:ph idx="1" type="body"/>
          </p:nvPr>
        </p:nvSpPr>
        <p:spPr>
          <a:xfrm>
            <a:off x="838200" y="1502125"/>
            <a:ext cx="7562100" cy="4738200"/>
          </a:xfrm>
          <a:prstGeom prst="rect">
            <a:avLst/>
          </a:prstGeom>
        </p:spPr>
        <p:txBody>
          <a:bodyPr anchorCtr="0" anchor="t" bIns="45700" lIns="91425" spcFirstLastPara="1" rIns="91425" wrap="square" tIns="45700">
            <a:normAutofit lnSpcReduction="10000"/>
          </a:bodyPr>
          <a:lstStyle/>
          <a:p>
            <a:pPr indent="-381000" lvl="0" marL="457200" rtl="0" algn="l">
              <a:spcBef>
                <a:spcPts val="1000"/>
              </a:spcBef>
              <a:spcAft>
                <a:spcPts val="0"/>
              </a:spcAft>
              <a:buSzPts val="2400"/>
              <a:buChar char="●"/>
            </a:pPr>
            <a:r>
              <a:rPr lang="en-GB" sz="2400"/>
              <a:t>Analysing </a:t>
            </a:r>
            <a:r>
              <a:rPr lang="en-GB" sz="2400"/>
              <a:t>language </a:t>
            </a:r>
            <a:r>
              <a:rPr lang="en-GB" sz="2400"/>
              <a:t> for translation, text generation and summarisation</a:t>
            </a:r>
            <a:endParaRPr sz="2400"/>
          </a:p>
          <a:p>
            <a:pPr indent="0" lvl="0" marL="457200" rtl="0" algn="l">
              <a:spcBef>
                <a:spcPts val="1000"/>
              </a:spcBef>
              <a:spcAft>
                <a:spcPts val="0"/>
              </a:spcAft>
              <a:buNone/>
            </a:pPr>
            <a:r>
              <a:t/>
            </a:r>
            <a:endParaRPr sz="100"/>
          </a:p>
          <a:p>
            <a:pPr indent="-381000" lvl="0" marL="457200" rtl="0" algn="l">
              <a:spcBef>
                <a:spcPts val="1000"/>
              </a:spcBef>
              <a:spcAft>
                <a:spcPts val="0"/>
              </a:spcAft>
              <a:buSzPts val="2400"/>
              <a:buChar char="●"/>
            </a:pPr>
            <a:r>
              <a:rPr lang="en-GB" sz="2400"/>
              <a:t>RNN </a:t>
            </a:r>
            <a:r>
              <a:rPr lang="en-GB" sz="2400"/>
              <a:t>is a</a:t>
            </a:r>
            <a:r>
              <a:rPr lang="en-GB" sz="2400"/>
              <a:t> sequential</a:t>
            </a:r>
            <a:r>
              <a:rPr lang="en-GB" sz="2400"/>
              <a:t> model</a:t>
            </a:r>
            <a:r>
              <a:rPr lang="en-GB" sz="2400"/>
              <a:t>, </a:t>
            </a:r>
            <a:endParaRPr sz="2400"/>
          </a:p>
          <a:p>
            <a:pPr indent="-381000" lvl="1" marL="914400" rtl="0" algn="l">
              <a:spcBef>
                <a:spcPts val="1000"/>
              </a:spcBef>
              <a:spcAft>
                <a:spcPts val="0"/>
              </a:spcAft>
              <a:buSzPts val="2400"/>
              <a:buChar char="○"/>
            </a:pPr>
            <a:r>
              <a:rPr lang="en-GB"/>
              <a:t>Struggle to capture and retain relevant information from earlier parts of the sequence.</a:t>
            </a:r>
            <a:endParaRPr/>
          </a:p>
          <a:p>
            <a:pPr indent="-381000" lvl="1" marL="914400" rtl="0" algn="l">
              <a:spcBef>
                <a:spcPts val="1000"/>
              </a:spcBef>
              <a:spcAft>
                <a:spcPts val="0"/>
              </a:spcAft>
              <a:buSzPts val="2400"/>
              <a:buChar char="○"/>
            </a:pPr>
            <a:r>
              <a:rPr lang="en-GB"/>
              <a:t>Hard to train</a:t>
            </a:r>
            <a:endParaRPr/>
          </a:p>
          <a:p>
            <a:pPr indent="0" lvl="0" marL="457200" rtl="0" algn="l">
              <a:spcBef>
                <a:spcPts val="1000"/>
              </a:spcBef>
              <a:spcAft>
                <a:spcPts val="0"/>
              </a:spcAft>
              <a:buNone/>
            </a:pPr>
            <a:r>
              <a:t/>
            </a:r>
            <a:endParaRPr sz="100"/>
          </a:p>
          <a:p>
            <a:pPr indent="-381000" lvl="0" marL="457200" rtl="0" algn="l">
              <a:spcBef>
                <a:spcPts val="1000"/>
              </a:spcBef>
              <a:spcAft>
                <a:spcPts val="0"/>
              </a:spcAft>
              <a:buSzPts val="2400"/>
              <a:buChar char="●"/>
            </a:pPr>
            <a:r>
              <a:rPr lang="en-GB" sz="2400"/>
              <a:t>Model developed by </a:t>
            </a:r>
            <a:r>
              <a:rPr lang="en-GB" sz="2400"/>
              <a:t>researchers</a:t>
            </a:r>
            <a:r>
              <a:rPr lang="en-GB" sz="2400"/>
              <a:t> at Google with </a:t>
            </a:r>
            <a:r>
              <a:rPr lang="en-GB" sz="2400"/>
              <a:t>University</a:t>
            </a:r>
            <a:r>
              <a:rPr lang="en-GB" sz="2400"/>
              <a:t> of </a:t>
            </a:r>
            <a:r>
              <a:rPr lang="en-GB" sz="2400"/>
              <a:t>Toronto in 2017</a:t>
            </a:r>
            <a:endParaRPr sz="2400"/>
          </a:p>
          <a:p>
            <a:pPr indent="-381000" lvl="1" marL="914400" rtl="0" algn="l">
              <a:spcBef>
                <a:spcPts val="1000"/>
              </a:spcBef>
              <a:spcAft>
                <a:spcPts val="0"/>
              </a:spcAft>
              <a:buSzPts val="2400"/>
              <a:buChar char="○"/>
            </a:pPr>
            <a:r>
              <a:rPr lang="en-GB"/>
              <a:t>Introduced attention mechanisms</a:t>
            </a:r>
            <a:endParaRPr/>
          </a:p>
          <a:p>
            <a:pPr indent="-381000" lvl="1" marL="914400" rtl="0" algn="l">
              <a:lnSpc>
                <a:spcPct val="100000"/>
              </a:lnSpc>
              <a:spcBef>
                <a:spcPts val="1000"/>
              </a:spcBef>
              <a:spcAft>
                <a:spcPts val="0"/>
              </a:spcAft>
              <a:buSzPts val="2400"/>
              <a:buChar char="○"/>
            </a:pPr>
            <a:r>
              <a:rPr lang="en-GB"/>
              <a:t>Allow parallel processing</a:t>
            </a:r>
            <a:endParaRPr/>
          </a:p>
          <a:p>
            <a:pPr indent="-381000" lvl="1" marL="914400" rtl="0" algn="l">
              <a:lnSpc>
                <a:spcPct val="100000"/>
              </a:lnSpc>
              <a:spcBef>
                <a:spcPts val="1000"/>
              </a:spcBef>
              <a:spcAft>
                <a:spcPts val="0"/>
              </a:spcAft>
              <a:buSzPts val="2400"/>
              <a:buChar char="○"/>
            </a:pPr>
            <a:r>
              <a:rPr lang="en-GB"/>
              <a:t>Better handling of long-range dependencies.</a:t>
            </a:r>
            <a:endParaRPr/>
          </a:p>
        </p:txBody>
      </p:sp>
      <p:sp>
        <p:nvSpPr>
          <p:cNvPr id="129" name="Google Shape;129;g2a66fe91e16_0_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130" name="Google Shape;130;g2a66fe91e16_0_7"/>
          <p:cNvPicPr preferRelativeResize="0"/>
          <p:nvPr/>
        </p:nvPicPr>
        <p:blipFill>
          <a:blip r:embed="rId3">
            <a:alphaModFix/>
          </a:blip>
          <a:stretch>
            <a:fillRect/>
          </a:stretch>
        </p:blipFill>
        <p:spPr>
          <a:xfrm>
            <a:off x="8400363" y="1690863"/>
            <a:ext cx="3163663" cy="4360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2a66fe91e16_0_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GB">
                <a:solidFill>
                  <a:srgbClr val="1E4E79"/>
                </a:solidFill>
              </a:rPr>
              <a:t>Dataset -Glassdoor</a:t>
            </a:r>
            <a:endParaRPr b="1">
              <a:solidFill>
                <a:srgbClr val="1E4E79"/>
              </a:solidFill>
            </a:endParaRPr>
          </a:p>
        </p:txBody>
      </p:sp>
      <p:sp>
        <p:nvSpPr>
          <p:cNvPr id="137" name="Google Shape;137;g2a66fe91e16_0_2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74650" lvl="0" marL="457200" rtl="0" algn="l">
              <a:lnSpc>
                <a:spcPct val="115000"/>
              </a:lnSpc>
              <a:spcBef>
                <a:spcPts val="0"/>
              </a:spcBef>
              <a:spcAft>
                <a:spcPts val="0"/>
              </a:spcAft>
              <a:buClr>
                <a:schemeClr val="dk1"/>
              </a:buClr>
              <a:buSzPts val="2300"/>
              <a:buFont typeface="Calibri"/>
              <a:buChar char="●"/>
            </a:pPr>
            <a:r>
              <a:rPr lang="en-GB" sz="2300"/>
              <a:t>Real-world Employee Review</a:t>
            </a:r>
            <a:endParaRPr sz="2300"/>
          </a:p>
          <a:p>
            <a:pPr indent="-374650" lvl="0" marL="457200" rtl="0" algn="l">
              <a:lnSpc>
                <a:spcPct val="115000"/>
              </a:lnSpc>
              <a:spcBef>
                <a:spcPts val="0"/>
              </a:spcBef>
              <a:spcAft>
                <a:spcPts val="0"/>
              </a:spcAft>
              <a:buClr>
                <a:srgbClr val="1E4E79"/>
              </a:buClr>
              <a:buSzPts val="2300"/>
              <a:buFont typeface="Calibri"/>
              <a:buChar char="●"/>
            </a:pPr>
            <a:r>
              <a:rPr lang="en-GB" sz="2300">
                <a:solidFill>
                  <a:srgbClr val="1E4E79"/>
                </a:solidFill>
              </a:rPr>
              <a:t>Comprehensive Information</a:t>
            </a:r>
            <a:endParaRPr sz="2300">
              <a:solidFill>
                <a:srgbClr val="1E4E79"/>
              </a:solidFill>
            </a:endParaRPr>
          </a:p>
          <a:p>
            <a:pPr indent="0" lvl="0" marL="457200" rtl="0" algn="l">
              <a:lnSpc>
                <a:spcPct val="115000"/>
              </a:lnSpc>
              <a:spcBef>
                <a:spcPts val="0"/>
              </a:spcBef>
              <a:spcAft>
                <a:spcPts val="0"/>
              </a:spcAft>
              <a:buNone/>
            </a:pPr>
            <a:r>
              <a:rPr lang="en-GB" sz="2300">
                <a:solidFill>
                  <a:srgbClr val="1E4E79"/>
                </a:solidFill>
              </a:rPr>
              <a:t>Records: 838566</a:t>
            </a:r>
            <a:endParaRPr sz="2300">
              <a:solidFill>
                <a:srgbClr val="1E4E79"/>
              </a:solidFill>
            </a:endParaRPr>
          </a:p>
          <a:p>
            <a:pPr indent="0" lvl="0" marL="457200" rtl="0" algn="l">
              <a:lnSpc>
                <a:spcPct val="115000"/>
              </a:lnSpc>
              <a:spcBef>
                <a:spcPts val="0"/>
              </a:spcBef>
              <a:spcAft>
                <a:spcPts val="0"/>
              </a:spcAft>
              <a:buNone/>
            </a:pPr>
            <a:r>
              <a:rPr lang="en-GB" sz="2300">
                <a:solidFill>
                  <a:srgbClr val="1E4E79"/>
                </a:solidFill>
              </a:rPr>
              <a:t>18 features</a:t>
            </a:r>
            <a:endParaRPr sz="2300">
              <a:solidFill>
                <a:srgbClr val="1E4E79"/>
              </a:solidFill>
            </a:endParaRPr>
          </a:p>
          <a:p>
            <a:pPr indent="-374650" lvl="0" marL="457200" rtl="0" algn="l">
              <a:lnSpc>
                <a:spcPct val="115000"/>
              </a:lnSpc>
              <a:spcBef>
                <a:spcPts val="0"/>
              </a:spcBef>
              <a:spcAft>
                <a:spcPts val="0"/>
              </a:spcAft>
              <a:buClr>
                <a:schemeClr val="dk1"/>
              </a:buClr>
              <a:buSzPts val="2300"/>
              <a:buFont typeface="Calibri"/>
              <a:buChar char="●"/>
            </a:pPr>
            <a:r>
              <a:rPr lang="en-GB" sz="2300"/>
              <a:t>Diversity and Volume</a:t>
            </a:r>
            <a:endParaRPr sz="2300"/>
          </a:p>
          <a:p>
            <a:pPr indent="457200" lvl="0" marL="0" rtl="0" algn="l">
              <a:lnSpc>
                <a:spcPct val="115000"/>
              </a:lnSpc>
              <a:spcBef>
                <a:spcPts val="0"/>
              </a:spcBef>
              <a:spcAft>
                <a:spcPts val="0"/>
              </a:spcAft>
              <a:buNone/>
            </a:pPr>
            <a:r>
              <a:rPr lang="en-GB" sz="2300"/>
              <a:t>428 unique UK Companies; Citi, Tesco, Barclays’ etc.</a:t>
            </a:r>
            <a:endParaRPr sz="3900"/>
          </a:p>
        </p:txBody>
      </p:sp>
      <p:sp>
        <p:nvSpPr>
          <p:cNvPr id="138" name="Google Shape;138;g2a66fe91e16_0_2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139" name="Google Shape;139;g2a66fe91e16_0_29"/>
          <p:cNvPicPr preferRelativeResize="0"/>
          <p:nvPr/>
        </p:nvPicPr>
        <p:blipFill>
          <a:blip r:embed="rId3">
            <a:alphaModFix/>
          </a:blip>
          <a:stretch>
            <a:fillRect/>
          </a:stretch>
        </p:blipFill>
        <p:spPr>
          <a:xfrm>
            <a:off x="354125" y="4645750"/>
            <a:ext cx="11628949" cy="1155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a66fe91e16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GB">
                <a:solidFill>
                  <a:srgbClr val="1E4E79"/>
                </a:solidFill>
              </a:rPr>
              <a:t>Tools and softwares</a:t>
            </a:r>
            <a:endParaRPr b="1" sz="6000">
              <a:solidFill>
                <a:srgbClr val="1E4E79"/>
              </a:solidFill>
            </a:endParaRPr>
          </a:p>
        </p:txBody>
      </p:sp>
      <p:sp>
        <p:nvSpPr>
          <p:cNvPr id="146" name="Google Shape;146;g2a66fe91e16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br>
              <a:rPr lang="en-GB"/>
            </a:br>
            <a:endParaRPr/>
          </a:p>
        </p:txBody>
      </p:sp>
      <p:sp>
        <p:nvSpPr>
          <p:cNvPr id="147" name="Google Shape;147;g2a66fe91e16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148" name="Google Shape;148;g2a66fe91e16_0_0"/>
          <p:cNvPicPr preferRelativeResize="0"/>
          <p:nvPr/>
        </p:nvPicPr>
        <p:blipFill rotWithShape="1">
          <a:blip r:embed="rId3">
            <a:alphaModFix/>
          </a:blip>
          <a:srcRect b="0" l="0" r="0" t="8223"/>
          <a:stretch/>
        </p:blipFill>
        <p:spPr>
          <a:xfrm>
            <a:off x="4638000" y="1769525"/>
            <a:ext cx="6151199" cy="3870051"/>
          </a:xfrm>
          <a:prstGeom prst="rect">
            <a:avLst/>
          </a:prstGeom>
          <a:noFill/>
          <a:ln>
            <a:noFill/>
          </a:ln>
        </p:spPr>
      </p:pic>
      <p:pic>
        <p:nvPicPr>
          <p:cNvPr id="149" name="Google Shape;149;g2a66fe91e16_0_0"/>
          <p:cNvPicPr preferRelativeResize="0"/>
          <p:nvPr/>
        </p:nvPicPr>
        <p:blipFill>
          <a:blip r:embed="rId4">
            <a:alphaModFix/>
          </a:blip>
          <a:stretch>
            <a:fillRect/>
          </a:stretch>
        </p:blipFill>
        <p:spPr>
          <a:xfrm>
            <a:off x="1675675" y="4083450"/>
            <a:ext cx="1439550" cy="1079675"/>
          </a:xfrm>
          <a:prstGeom prst="rect">
            <a:avLst/>
          </a:prstGeom>
          <a:noFill/>
          <a:ln>
            <a:noFill/>
          </a:ln>
        </p:spPr>
      </p:pic>
      <p:pic>
        <p:nvPicPr>
          <p:cNvPr id="150" name="Google Shape;150;g2a66fe91e16_0_0"/>
          <p:cNvPicPr preferRelativeResize="0"/>
          <p:nvPr/>
        </p:nvPicPr>
        <p:blipFill>
          <a:blip r:embed="rId5">
            <a:alphaModFix/>
          </a:blip>
          <a:stretch>
            <a:fillRect/>
          </a:stretch>
        </p:blipFill>
        <p:spPr>
          <a:xfrm>
            <a:off x="1225950" y="2129000"/>
            <a:ext cx="2743200" cy="121859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2a66fe91e16_0_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GB">
                <a:solidFill>
                  <a:srgbClr val="1E4E79"/>
                </a:solidFill>
              </a:rPr>
              <a:t>Python libraries</a:t>
            </a:r>
            <a:endParaRPr b="1" sz="6000">
              <a:solidFill>
                <a:srgbClr val="1E4E79"/>
              </a:solidFill>
            </a:endParaRPr>
          </a:p>
        </p:txBody>
      </p:sp>
      <p:sp>
        <p:nvSpPr>
          <p:cNvPr id="157" name="Google Shape;157;g2a66fe91e16_0_38"/>
          <p:cNvSpPr txBox="1"/>
          <p:nvPr>
            <p:ph idx="1" type="body"/>
          </p:nvPr>
        </p:nvSpPr>
        <p:spPr>
          <a:xfrm>
            <a:off x="838200" y="1760438"/>
            <a:ext cx="10515600" cy="4351200"/>
          </a:xfrm>
          <a:prstGeom prst="rect">
            <a:avLst/>
          </a:prstGeom>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39285"/>
              <a:buFont typeface="Arial"/>
              <a:buNone/>
            </a:pPr>
            <a:r>
              <a:rPr b="1" lang="en-GB"/>
              <a:t>Data Manipulation and Visualization:</a:t>
            </a:r>
            <a:endParaRPr b="1"/>
          </a:p>
          <a:p>
            <a:pPr indent="0" lvl="0" marL="0" rtl="0" algn="l">
              <a:lnSpc>
                <a:spcPct val="150000"/>
              </a:lnSpc>
              <a:spcBef>
                <a:spcPts val="0"/>
              </a:spcBef>
              <a:spcAft>
                <a:spcPts val="0"/>
              </a:spcAft>
              <a:buNone/>
            </a:pPr>
            <a:r>
              <a:rPr lang="en-GB"/>
              <a:t>Numpy</a:t>
            </a:r>
            <a:endParaRPr/>
          </a:p>
          <a:p>
            <a:pPr indent="0" lvl="0" marL="0" rtl="0" algn="l">
              <a:lnSpc>
                <a:spcPct val="150000"/>
              </a:lnSpc>
              <a:spcBef>
                <a:spcPts val="0"/>
              </a:spcBef>
              <a:spcAft>
                <a:spcPts val="0"/>
              </a:spcAft>
              <a:buNone/>
            </a:pPr>
            <a:r>
              <a:rPr lang="en-GB"/>
              <a:t>Pandas Matplotlib</a:t>
            </a:r>
            <a:endParaRPr/>
          </a:p>
          <a:p>
            <a:pPr indent="0" lvl="0" marL="0" rtl="0" algn="l">
              <a:lnSpc>
                <a:spcPct val="150000"/>
              </a:lnSpc>
              <a:spcBef>
                <a:spcPts val="0"/>
              </a:spcBef>
              <a:spcAft>
                <a:spcPts val="0"/>
              </a:spcAft>
              <a:buNone/>
            </a:pPr>
            <a:r>
              <a:rPr lang="en-GB"/>
              <a:t>Seaborn</a:t>
            </a:r>
            <a:endParaRPr/>
          </a:p>
          <a:p>
            <a:pPr indent="0" lvl="0" marL="0" rtl="0" algn="l">
              <a:lnSpc>
                <a:spcPct val="150000"/>
              </a:lnSpc>
              <a:spcBef>
                <a:spcPts val="0"/>
              </a:spcBef>
              <a:spcAft>
                <a:spcPts val="0"/>
              </a:spcAft>
              <a:buNone/>
            </a:pPr>
            <a:r>
              <a:rPr lang="en-GB"/>
              <a:t>Time</a:t>
            </a:r>
            <a:endParaRPr/>
          </a:p>
          <a:p>
            <a:pPr indent="0" lvl="0" marL="0" rtl="0" algn="l">
              <a:lnSpc>
                <a:spcPct val="150000"/>
              </a:lnSpc>
              <a:spcBef>
                <a:spcPts val="0"/>
              </a:spcBef>
              <a:spcAft>
                <a:spcPts val="0"/>
              </a:spcAft>
              <a:buNone/>
            </a:pPr>
            <a:r>
              <a:rPr lang="en-GB"/>
              <a:t>JSON</a:t>
            </a:r>
            <a:endParaRPr/>
          </a:p>
          <a:p>
            <a:pPr indent="0" lvl="0" marL="0" rtl="0" algn="l">
              <a:lnSpc>
                <a:spcPct val="100000"/>
              </a:lnSpc>
              <a:spcBef>
                <a:spcPts val="0"/>
              </a:spcBef>
              <a:spcAft>
                <a:spcPts val="0"/>
              </a:spcAft>
              <a:buNone/>
            </a:pPr>
            <a:br>
              <a:rPr b="1" lang="en-GB"/>
            </a:br>
            <a:r>
              <a:rPr b="1" lang="en-GB"/>
              <a:t>Natural Language Processing (NLP):</a:t>
            </a:r>
            <a:endParaRPr b="1"/>
          </a:p>
          <a:p>
            <a:pPr indent="0" lvl="0" marL="0" rtl="0" algn="l">
              <a:lnSpc>
                <a:spcPct val="150000"/>
              </a:lnSpc>
              <a:spcBef>
                <a:spcPts val="0"/>
              </a:spcBef>
              <a:spcAft>
                <a:spcPts val="0"/>
              </a:spcAft>
              <a:buNone/>
            </a:pPr>
            <a:r>
              <a:rPr lang="en-GB"/>
              <a:t>Spacy</a:t>
            </a:r>
            <a:endParaRPr/>
          </a:p>
          <a:p>
            <a:pPr indent="0" lvl="0" marL="0" rtl="0" algn="l">
              <a:lnSpc>
                <a:spcPct val="150000"/>
              </a:lnSpc>
              <a:spcBef>
                <a:spcPts val="0"/>
              </a:spcBef>
              <a:spcAft>
                <a:spcPts val="0"/>
              </a:spcAft>
              <a:buNone/>
            </a:pPr>
            <a:r>
              <a:rPr lang="en-GB"/>
              <a:t>NLTK</a:t>
            </a:r>
            <a:endParaRPr/>
          </a:p>
          <a:p>
            <a:pPr indent="0" lvl="0" marL="0" rtl="0" algn="l">
              <a:lnSpc>
                <a:spcPct val="150000"/>
              </a:lnSpc>
              <a:spcBef>
                <a:spcPts val="0"/>
              </a:spcBef>
              <a:spcAft>
                <a:spcPts val="0"/>
              </a:spcAft>
              <a:buNone/>
            </a:pPr>
            <a:r>
              <a:rPr lang="en-GB"/>
              <a:t>GENSIM</a:t>
            </a:r>
            <a:endParaRPr/>
          </a:p>
          <a:p>
            <a:pPr indent="0" lvl="0" marL="0" rtl="0" algn="l">
              <a:spcBef>
                <a:spcPts val="1000"/>
              </a:spcBef>
              <a:spcAft>
                <a:spcPts val="0"/>
              </a:spcAft>
              <a:buNone/>
            </a:pPr>
            <a:br>
              <a:rPr lang="en-GB"/>
            </a:br>
            <a:br>
              <a:rPr lang="en-GB"/>
            </a:br>
            <a:endParaRPr/>
          </a:p>
        </p:txBody>
      </p:sp>
      <p:sp>
        <p:nvSpPr>
          <p:cNvPr id="158" name="Google Shape;158;g2a66fe91e16_0_3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159" name="Google Shape;159;g2a66fe91e16_0_38"/>
          <p:cNvPicPr preferRelativeResize="0"/>
          <p:nvPr/>
        </p:nvPicPr>
        <p:blipFill rotWithShape="1">
          <a:blip r:embed="rId3">
            <a:alphaModFix/>
          </a:blip>
          <a:srcRect b="3459" l="15537" r="9217" t="8967"/>
          <a:stretch/>
        </p:blipFill>
        <p:spPr>
          <a:xfrm>
            <a:off x="5850075" y="1929675"/>
            <a:ext cx="5503726" cy="4012724"/>
          </a:xfrm>
          <a:prstGeom prst="rect">
            <a:avLst/>
          </a:prstGeom>
          <a:noFill/>
          <a:ln>
            <a:noFill/>
          </a:ln>
        </p:spPr>
      </p:pic>
      <p:pic>
        <p:nvPicPr>
          <p:cNvPr id="160" name="Google Shape;160;g2a66fe91e16_0_38"/>
          <p:cNvPicPr preferRelativeResize="0"/>
          <p:nvPr/>
        </p:nvPicPr>
        <p:blipFill>
          <a:blip r:embed="rId4">
            <a:alphaModFix/>
          </a:blip>
          <a:stretch>
            <a:fillRect/>
          </a:stretch>
        </p:blipFill>
        <p:spPr>
          <a:xfrm>
            <a:off x="5788775" y="696775"/>
            <a:ext cx="1852774" cy="662375"/>
          </a:xfrm>
          <a:prstGeom prst="rect">
            <a:avLst/>
          </a:prstGeom>
          <a:noFill/>
          <a:ln>
            <a:noFill/>
          </a:ln>
        </p:spPr>
      </p:pic>
      <p:pic>
        <p:nvPicPr>
          <p:cNvPr id="161" name="Google Shape;161;g2a66fe91e16_0_38"/>
          <p:cNvPicPr preferRelativeResize="0"/>
          <p:nvPr/>
        </p:nvPicPr>
        <p:blipFill>
          <a:blip r:embed="rId5">
            <a:alphaModFix/>
          </a:blip>
          <a:stretch>
            <a:fillRect/>
          </a:stretch>
        </p:blipFill>
        <p:spPr>
          <a:xfrm>
            <a:off x="9098550" y="4599499"/>
            <a:ext cx="1926775" cy="580850"/>
          </a:xfrm>
          <a:prstGeom prst="rect">
            <a:avLst/>
          </a:prstGeom>
          <a:noFill/>
          <a:ln>
            <a:noFill/>
          </a:ln>
        </p:spPr>
      </p:pic>
      <p:pic>
        <p:nvPicPr>
          <p:cNvPr id="162" name="Google Shape;162;g2a66fe91e16_0_38"/>
          <p:cNvPicPr preferRelativeResize="0"/>
          <p:nvPr/>
        </p:nvPicPr>
        <p:blipFill>
          <a:blip r:embed="rId6">
            <a:alphaModFix/>
          </a:blip>
          <a:stretch>
            <a:fillRect/>
          </a:stretch>
        </p:blipFill>
        <p:spPr>
          <a:xfrm>
            <a:off x="7276500" y="1786200"/>
            <a:ext cx="1926775" cy="1926775"/>
          </a:xfrm>
          <a:prstGeom prst="rect">
            <a:avLst/>
          </a:prstGeom>
          <a:noFill/>
          <a:ln>
            <a:noFill/>
          </a:ln>
        </p:spPr>
      </p:pic>
      <p:pic>
        <p:nvPicPr>
          <p:cNvPr id="163" name="Google Shape;163;g2a66fe91e16_0_38"/>
          <p:cNvPicPr preferRelativeResize="0"/>
          <p:nvPr/>
        </p:nvPicPr>
        <p:blipFill>
          <a:blip r:embed="rId7">
            <a:alphaModFix/>
          </a:blip>
          <a:stretch>
            <a:fillRect/>
          </a:stretch>
        </p:blipFill>
        <p:spPr>
          <a:xfrm>
            <a:off x="3231725" y="4599497"/>
            <a:ext cx="2317348" cy="876924"/>
          </a:xfrm>
          <a:prstGeom prst="rect">
            <a:avLst/>
          </a:prstGeom>
          <a:noFill/>
          <a:ln>
            <a:noFill/>
          </a:ln>
        </p:spPr>
      </p:pic>
      <p:pic>
        <p:nvPicPr>
          <p:cNvPr id="164" name="Google Shape;164;g2a66fe91e16_0_38"/>
          <p:cNvPicPr preferRelativeResize="0"/>
          <p:nvPr/>
        </p:nvPicPr>
        <p:blipFill rotWithShape="1">
          <a:blip r:embed="rId8">
            <a:alphaModFix/>
          </a:blip>
          <a:srcRect b="28370" l="17382" r="18022" t="23601"/>
          <a:stretch/>
        </p:blipFill>
        <p:spPr>
          <a:xfrm>
            <a:off x="5008925" y="3308199"/>
            <a:ext cx="2267574" cy="948375"/>
          </a:xfrm>
          <a:prstGeom prst="rect">
            <a:avLst/>
          </a:prstGeom>
          <a:noFill/>
          <a:ln>
            <a:noFill/>
          </a:ln>
        </p:spPr>
      </p:pic>
      <p:pic>
        <p:nvPicPr>
          <p:cNvPr id="165" name="Google Shape;165;g2a66fe91e16_0_38"/>
          <p:cNvPicPr preferRelativeResize="0"/>
          <p:nvPr/>
        </p:nvPicPr>
        <p:blipFill>
          <a:blip r:embed="rId9">
            <a:alphaModFix/>
          </a:blip>
          <a:stretch>
            <a:fillRect/>
          </a:stretch>
        </p:blipFill>
        <p:spPr>
          <a:xfrm>
            <a:off x="9309875" y="974575"/>
            <a:ext cx="1769826" cy="424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2a66fe91e16_0_5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None/>
            </a:pPr>
            <a:r>
              <a:rPr b="1" lang="en-GB">
                <a:solidFill>
                  <a:srgbClr val="1E4E79"/>
                </a:solidFill>
              </a:rPr>
              <a:t>Python libraries</a:t>
            </a:r>
            <a:endParaRPr b="1" sz="6000">
              <a:solidFill>
                <a:srgbClr val="1E4E79"/>
              </a:solidFill>
            </a:endParaRPr>
          </a:p>
        </p:txBody>
      </p:sp>
      <p:sp>
        <p:nvSpPr>
          <p:cNvPr id="172" name="Google Shape;172;g2a66fe91e16_0_56"/>
          <p:cNvSpPr txBox="1"/>
          <p:nvPr>
            <p:ph idx="1" type="body"/>
          </p:nvPr>
        </p:nvSpPr>
        <p:spPr>
          <a:xfrm>
            <a:off x="838200" y="1760438"/>
            <a:ext cx="10515600" cy="4351200"/>
          </a:xfrm>
          <a:prstGeom prst="rect">
            <a:avLst/>
          </a:prstGeom>
        </p:spPr>
        <p:txBody>
          <a:bodyPr anchorCtr="0" anchor="t" bIns="45700" lIns="91425" spcFirstLastPara="1" rIns="91425" wrap="square" tIns="45700">
            <a:normAutofit fontScale="55000" lnSpcReduction="10000"/>
          </a:bodyPr>
          <a:lstStyle/>
          <a:p>
            <a:pPr indent="0" lvl="0" marL="0" rtl="0" algn="l">
              <a:spcBef>
                <a:spcPts val="0"/>
              </a:spcBef>
              <a:spcAft>
                <a:spcPts val="0"/>
              </a:spcAft>
              <a:buNone/>
            </a:pPr>
            <a:r>
              <a:rPr b="1" lang="en-GB"/>
              <a:t>Machine Learning and Deep Learning:</a:t>
            </a:r>
            <a:endParaRPr b="1"/>
          </a:p>
          <a:p>
            <a:pPr indent="0" lvl="0" marL="0" rtl="0" algn="l">
              <a:lnSpc>
                <a:spcPct val="100000"/>
              </a:lnSpc>
              <a:spcBef>
                <a:spcPts val="0"/>
              </a:spcBef>
              <a:spcAft>
                <a:spcPts val="0"/>
              </a:spcAft>
              <a:buNone/>
            </a:pPr>
            <a:r>
              <a:t/>
            </a:r>
            <a:endParaRPr/>
          </a:p>
          <a:p>
            <a:pPr indent="0" lvl="0" marL="0" rtl="0" algn="l">
              <a:lnSpc>
                <a:spcPct val="150000"/>
              </a:lnSpc>
              <a:spcBef>
                <a:spcPts val="0"/>
              </a:spcBef>
              <a:spcAft>
                <a:spcPts val="0"/>
              </a:spcAft>
              <a:buNone/>
            </a:pPr>
            <a:r>
              <a:rPr lang="en-GB" sz="3120"/>
              <a:t>Scikit-learn (sklearn)</a:t>
            </a:r>
            <a:endParaRPr sz="3120"/>
          </a:p>
          <a:p>
            <a:pPr indent="0" lvl="0" marL="0" rtl="0" algn="l">
              <a:lnSpc>
                <a:spcPct val="150000"/>
              </a:lnSpc>
              <a:spcBef>
                <a:spcPts val="0"/>
              </a:spcBef>
              <a:spcAft>
                <a:spcPts val="0"/>
              </a:spcAft>
              <a:buNone/>
            </a:pPr>
            <a:r>
              <a:rPr lang="en-GB" sz="3120"/>
              <a:t>Transformers</a:t>
            </a:r>
            <a:endParaRPr sz="3120"/>
          </a:p>
          <a:p>
            <a:pPr indent="0" lvl="0" marL="0" rtl="0" algn="l">
              <a:lnSpc>
                <a:spcPct val="150000"/>
              </a:lnSpc>
              <a:spcBef>
                <a:spcPts val="0"/>
              </a:spcBef>
              <a:spcAft>
                <a:spcPts val="0"/>
              </a:spcAft>
              <a:buNone/>
            </a:pPr>
            <a:r>
              <a:rPr lang="en-GB" sz="3120"/>
              <a:t>Torch</a:t>
            </a:r>
            <a:endParaRPr sz="312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br>
              <a:rPr b="1" lang="en-GB"/>
            </a:br>
            <a:r>
              <a:rPr b="1" lang="en-GB"/>
              <a:t>Sentiment Analysis and Text Processing:</a:t>
            </a:r>
            <a:endParaRPr b="1"/>
          </a:p>
          <a:p>
            <a:pPr indent="0" lvl="0" marL="0" rtl="0" algn="l">
              <a:lnSpc>
                <a:spcPct val="100000"/>
              </a:lnSpc>
              <a:spcBef>
                <a:spcPts val="0"/>
              </a:spcBef>
              <a:spcAft>
                <a:spcPts val="0"/>
              </a:spcAft>
              <a:buNone/>
            </a:pPr>
            <a:r>
              <a:t/>
            </a:r>
            <a:endParaRPr/>
          </a:p>
          <a:p>
            <a:pPr indent="0" lvl="0" marL="0" rtl="0" algn="l">
              <a:lnSpc>
                <a:spcPct val="150000"/>
              </a:lnSpc>
              <a:spcBef>
                <a:spcPts val="0"/>
              </a:spcBef>
              <a:spcAft>
                <a:spcPts val="0"/>
              </a:spcAft>
              <a:buNone/>
            </a:pPr>
            <a:r>
              <a:rPr lang="en-GB" sz="3120"/>
              <a:t>VaderSentiment</a:t>
            </a:r>
            <a:endParaRPr sz="3120"/>
          </a:p>
          <a:p>
            <a:pPr indent="0" lvl="0" marL="0" rtl="0" algn="l">
              <a:lnSpc>
                <a:spcPct val="150000"/>
              </a:lnSpc>
              <a:spcBef>
                <a:spcPts val="0"/>
              </a:spcBef>
              <a:spcAft>
                <a:spcPts val="0"/>
              </a:spcAft>
              <a:buNone/>
            </a:pPr>
            <a:r>
              <a:rPr lang="en-GB" sz="3120"/>
              <a:t>Wordcloud</a:t>
            </a:r>
            <a:endParaRPr sz="1520">
              <a:solidFill>
                <a:srgbClr val="374151"/>
              </a:solidFill>
              <a:latin typeface="Roboto"/>
              <a:ea typeface="Roboto"/>
              <a:cs typeface="Roboto"/>
              <a:sym typeface="Roboto"/>
            </a:endParaRPr>
          </a:p>
          <a:p>
            <a:pPr indent="0" lvl="0" marL="0" rtl="0" algn="l">
              <a:spcBef>
                <a:spcPts val="1000"/>
              </a:spcBef>
              <a:spcAft>
                <a:spcPts val="0"/>
              </a:spcAft>
              <a:buNone/>
            </a:pPr>
            <a:r>
              <a:t/>
            </a:r>
            <a:endParaRPr/>
          </a:p>
          <a:p>
            <a:pPr indent="0" lvl="0" marL="0" rtl="0" algn="l">
              <a:spcBef>
                <a:spcPts val="1000"/>
              </a:spcBef>
              <a:spcAft>
                <a:spcPts val="0"/>
              </a:spcAft>
              <a:buNone/>
            </a:pPr>
            <a:br>
              <a:rPr lang="en-GB"/>
            </a:br>
            <a:br>
              <a:rPr lang="en-GB"/>
            </a:br>
            <a:endParaRPr/>
          </a:p>
        </p:txBody>
      </p:sp>
      <p:sp>
        <p:nvSpPr>
          <p:cNvPr id="173" name="Google Shape;173;g2a66fe91e16_0_5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174" name="Google Shape;174;g2a66fe91e16_0_56"/>
          <p:cNvPicPr preferRelativeResize="0"/>
          <p:nvPr/>
        </p:nvPicPr>
        <p:blipFill rotWithShape="1">
          <a:blip r:embed="rId3">
            <a:alphaModFix/>
          </a:blip>
          <a:srcRect b="3459" l="15537" r="9217" t="8967"/>
          <a:stretch/>
        </p:blipFill>
        <p:spPr>
          <a:xfrm>
            <a:off x="5850075" y="1929675"/>
            <a:ext cx="5503726" cy="4012724"/>
          </a:xfrm>
          <a:prstGeom prst="rect">
            <a:avLst/>
          </a:prstGeom>
          <a:noFill/>
          <a:ln>
            <a:noFill/>
          </a:ln>
        </p:spPr>
      </p:pic>
      <p:pic>
        <p:nvPicPr>
          <p:cNvPr id="175" name="Google Shape;175;g2a66fe91e16_0_56"/>
          <p:cNvPicPr preferRelativeResize="0"/>
          <p:nvPr/>
        </p:nvPicPr>
        <p:blipFill>
          <a:blip r:embed="rId4">
            <a:alphaModFix/>
          </a:blip>
          <a:stretch>
            <a:fillRect/>
          </a:stretch>
        </p:blipFill>
        <p:spPr>
          <a:xfrm>
            <a:off x="9055813" y="927050"/>
            <a:ext cx="1852774" cy="662375"/>
          </a:xfrm>
          <a:prstGeom prst="rect">
            <a:avLst/>
          </a:prstGeom>
          <a:noFill/>
          <a:ln>
            <a:noFill/>
          </a:ln>
        </p:spPr>
      </p:pic>
      <p:pic>
        <p:nvPicPr>
          <p:cNvPr id="176" name="Google Shape;176;g2a66fe91e16_0_56"/>
          <p:cNvPicPr preferRelativeResize="0"/>
          <p:nvPr/>
        </p:nvPicPr>
        <p:blipFill>
          <a:blip r:embed="rId5">
            <a:alphaModFix/>
          </a:blip>
          <a:stretch>
            <a:fillRect/>
          </a:stretch>
        </p:blipFill>
        <p:spPr>
          <a:xfrm>
            <a:off x="9098550" y="4599499"/>
            <a:ext cx="1926775" cy="580850"/>
          </a:xfrm>
          <a:prstGeom prst="rect">
            <a:avLst/>
          </a:prstGeom>
          <a:noFill/>
          <a:ln>
            <a:noFill/>
          </a:ln>
        </p:spPr>
      </p:pic>
      <p:pic>
        <p:nvPicPr>
          <p:cNvPr id="177" name="Google Shape;177;g2a66fe91e16_0_56"/>
          <p:cNvPicPr preferRelativeResize="0"/>
          <p:nvPr/>
        </p:nvPicPr>
        <p:blipFill>
          <a:blip r:embed="rId6">
            <a:alphaModFix/>
          </a:blip>
          <a:stretch>
            <a:fillRect/>
          </a:stretch>
        </p:blipFill>
        <p:spPr>
          <a:xfrm>
            <a:off x="7276500" y="1786200"/>
            <a:ext cx="1926775" cy="1926775"/>
          </a:xfrm>
          <a:prstGeom prst="rect">
            <a:avLst/>
          </a:prstGeom>
          <a:noFill/>
          <a:ln>
            <a:noFill/>
          </a:ln>
        </p:spPr>
      </p:pic>
      <p:pic>
        <p:nvPicPr>
          <p:cNvPr id="178" name="Google Shape;178;g2a66fe91e16_0_56"/>
          <p:cNvPicPr preferRelativeResize="0"/>
          <p:nvPr/>
        </p:nvPicPr>
        <p:blipFill>
          <a:blip r:embed="rId7">
            <a:alphaModFix/>
          </a:blip>
          <a:stretch>
            <a:fillRect/>
          </a:stretch>
        </p:blipFill>
        <p:spPr>
          <a:xfrm>
            <a:off x="3231725" y="4599497"/>
            <a:ext cx="2317348" cy="876924"/>
          </a:xfrm>
          <a:prstGeom prst="rect">
            <a:avLst/>
          </a:prstGeom>
          <a:noFill/>
          <a:ln>
            <a:noFill/>
          </a:ln>
        </p:spPr>
      </p:pic>
      <p:pic>
        <p:nvPicPr>
          <p:cNvPr id="179" name="Google Shape;179;g2a66fe91e16_0_56"/>
          <p:cNvPicPr preferRelativeResize="0"/>
          <p:nvPr/>
        </p:nvPicPr>
        <p:blipFill rotWithShape="1">
          <a:blip r:embed="rId8">
            <a:alphaModFix/>
          </a:blip>
          <a:srcRect b="28370" l="17382" r="18022" t="23601"/>
          <a:stretch/>
        </p:blipFill>
        <p:spPr>
          <a:xfrm>
            <a:off x="5069725" y="3308649"/>
            <a:ext cx="2267574" cy="948375"/>
          </a:xfrm>
          <a:prstGeom prst="rect">
            <a:avLst/>
          </a:prstGeom>
          <a:noFill/>
          <a:ln>
            <a:noFill/>
          </a:ln>
        </p:spPr>
      </p:pic>
      <p:pic>
        <p:nvPicPr>
          <p:cNvPr id="180" name="Google Shape;180;g2a66fe91e16_0_56"/>
          <p:cNvPicPr preferRelativeResize="0"/>
          <p:nvPr/>
        </p:nvPicPr>
        <p:blipFill>
          <a:blip r:embed="rId9">
            <a:alphaModFix/>
          </a:blip>
          <a:stretch>
            <a:fillRect/>
          </a:stretch>
        </p:blipFill>
        <p:spPr>
          <a:xfrm>
            <a:off x="5318600" y="1464375"/>
            <a:ext cx="1769826" cy="424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4" name="Shape 184"/>
        <p:cNvGrpSpPr/>
        <p:nvPr/>
      </p:nvGrpSpPr>
      <p:grpSpPr>
        <a:xfrm>
          <a:off x="0" y="0"/>
          <a:ext cx="0" cy="0"/>
          <a:chOff x="0" y="0"/>
          <a:chExt cx="0" cy="0"/>
        </a:xfrm>
      </p:grpSpPr>
      <p:sp>
        <p:nvSpPr>
          <p:cNvPr id="185" name="Google Shape;185;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F3864"/>
              </a:buClr>
              <a:buSzPts val="4400"/>
              <a:buFont typeface="Calibri"/>
              <a:buNone/>
            </a:pPr>
            <a:r>
              <a:rPr b="1" lang="en-GB">
                <a:solidFill>
                  <a:srgbClr val="1F3864"/>
                </a:solidFill>
              </a:rPr>
              <a:t>Transformer model Development &amp; Training</a:t>
            </a:r>
            <a:endParaRPr b="1">
              <a:solidFill>
                <a:srgbClr val="1F3864"/>
              </a:solidFill>
            </a:endParaRPr>
          </a:p>
        </p:txBody>
      </p:sp>
      <p:sp>
        <p:nvSpPr>
          <p:cNvPr id="186" name="Google Shape;18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14/12/2023</a:t>
            </a:r>
            <a:endParaRPr/>
          </a:p>
        </p:txBody>
      </p:sp>
      <p:sp>
        <p:nvSpPr>
          <p:cNvPr id="187" name="Google Shape;18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MSc Project Presentation -  Mrs Dinuja R Perera</a:t>
            </a:r>
            <a:endParaRPr/>
          </a:p>
        </p:txBody>
      </p:sp>
      <p:sp>
        <p:nvSpPr>
          <p:cNvPr id="188" name="Google Shape;18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89" name="Google Shape;189;p5"/>
          <p:cNvGraphicFramePr/>
          <p:nvPr/>
        </p:nvGraphicFramePr>
        <p:xfrm>
          <a:off x="1669002" y="2299316"/>
          <a:ext cx="3000000" cy="3000000"/>
        </p:xfrm>
        <a:graphic>
          <a:graphicData uri="http://schemas.openxmlformats.org/drawingml/2006/table">
            <a:tbl>
              <a:tblPr bandRow="1" firstRow="1">
                <a:noFill/>
                <a:tableStyleId>{92E2A7E1-34C9-4964-AB48-9E1F306D2C89}</a:tableStyleId>
              </a:tblPr>
              <a:tblGrid>
                <a:gridCol w="1685775"/>
                <a:gridCol w="1685775"/>
                <a:gridCol w="1685775"/>
                <a:gridCol w="1685775"/>
                <a:gridCol w="1685775"/>
              </a:tblGrid>
              <a:tr h="694025">
                <a:tc>
                  <a:txBody>
                    <a:bodyPr/>
                    <a:lstStyle/>
                    <a:p>
                      <a:pPr indent="0" lvl="0" marL="0" marR="0" rtl="0" algn="l">
                        <a:spcBef>
                          <a:spcPts val="0"/>
                        </a:spcBef>
                        <a:spcAft>
                          <a:spcPts val="0"/>
                        </a:spcAft>
                        <a:buNone/>
                      </a:pPr>
                      <a:r>
                        <a:rPr lang="en-GB" sz="1800" u="none" cap="none" strike="noStrike"/>
                        <a:t>Language Model</a:t>
                      </a:r>
                      <a:endParaRPr sz="1800"/>
                    </a:p>
                  </a:txBody>
                  <a:tcPr marT="45725" marB="45725" marR="91450" marL="91450"/>
                </a:tc>
                <a:tc>
                  <a:txBody>
                    <a:bodyPr/>
                    <a:lstStyle/>
                    <a:p>
                      <a:pPr indent="0" lvl="0" marL="0" marR="0" rtl="0" algn="l">
                        <a:spcBef>
                          <a:spcPts val="0"/>
                        </a:spcBef>
                        <a:spcAft>
                          <a:spcPts val="0"/>
                        </a:spcAft>
                        <a:buNone/>
                      </a:pPr>
                      <a:r>
                        <a:rPr lang="en-GB" sz="1800"/>
                        <a:t>Accuracy</a:t>
                      </a:r>
                      <a:endParaRPr sz="1800"/>
                    </a:p>
                  </a:txBody>
                  <a:tcPr marT="45725" marB="45725" marR="91450" marL="91450"/>
                </a:tc>
                <a:tc>
                  <a:txBody>
                    <a:bodyPr/>
                    <a:lstStyle/>
                    <a:p>
                      <a:pPr indent="0" lvl="0" marL="0" marR="0" rtl="0" algn="l">
                        <a:spcBef>
                          <a:spcPts val="0"/>
                        </a:spcBef>
                        <a:spcAft>
                          <a:spcPts val="0"/>
                        </a:spcAft>
                        <a:buNone/>
                      </a:pPr>
                      <a:r>
                        <a:rPr lang="en-GB" sz="1800"/>
                        <a:t>Precision</a:t>
                      </a:r>
                      <a:endParaRPr sz="1800"/>
                    </a:p>
                  </a:txBody>
                  <a:tcPr marT="45725" marB="45725" marR="91450" marL="91450"/>
                </a:tc>
                <a:tc>
                  <a:txBody>
                    <a:bodyPr/>
                    <a:lstStyle/>
                    <a:p>
                      <a:pPr indent="0" lvl="0" marL="0" marR="0" rtl="0" algn="l">
                        <a:spcBef>
                          <a:spcPts val="0"/>
                        </a:spcBef>
                        <a:spcAft>
                          <a:spcPts val="0"/>
                        </a:spcAft>
                        <a:buNone/>
                      </a:pPr>
                      <a:r>
                        <a:rPr lang="en-GB" sz="1800"/>
                        <a:t>Recall</a:t>
                      </a:r>
                      <a:endParaRPr sz="1800"/>
                    </a:p>
                  </a:txBody>
                  <a:tcPr marT="45725" marB="45725" marR="91450" marL="91450"/>
                </a:tc>
                <a:tc>
                  <a:txBody>
                    <a:bodyPr/>
                    <a:lstStyle/>
                    <a:p>
                      <a:pPr indent="0" lvl="0" marL="0" marR="0" rtl="0" algn="l">
                        <a:spcBef>
                          <a:spcPts val="0"/>
                        </a:spcBef>
                        <a:spcAft>
                          <a:spcPts val="0"/>
                        </a:spcAft>
                        <a:buNone/>
                      </a:pPr>
                      <a:r>
                        <a:rPr lang="en-GB" sz="1800"/>
                        <a:t>F1-score</a:t>
                      </a:r>
                      <a:endParaRPr sz="1800"/>
                    </a:p>
                  </a:txBody>
                  <a:tcPr marT="45725" marB="45725" marR="91450" marL="91450"/>
                </a:tc>
              </a:tr>
              <a:tr h="402100">
                <a:tc>
                  <a:txBody>
                    <a:bodyPr/>
                    <a:lstStyle/>
                    <a:p>
                      <a:pPr indent="0" lvl="0" marL="0" marR="0" rtl="0" algn="l">
                        <a:spcBef>
                          <a:spcPts val="0"/>
                        </a:spcBef>
                        <a:spcAft>
                          <a:spcPts val="0"/>
                        </a:spcAft>
                        <a:buNone/>
                      </a:pPr>
                      <a:r>
                        <a:rPr lang="en-GB" sz="1800"/>
                        <a:t>DistilBERT</a:t>
                      </a:r>
                      <a:endParaRPr sz="1800"/>
                    </a:p>
                  </a:txBody>
                  <a:tcPr marT="45725" marB="45725" marR="91450" marL="91450">
                    <a:solidFill>
                      <a:srgbClr val="C55A11"/>
                    </a:solidFill>
                  </a:tcPr>
                </a:tc>
                <a:tc>
                  <a:txBody>
                    <a:bodyPr/>
                    <a:lstStyle/>
                    <a:p>
                      <a:pPr indent="0" lvl="0" marL="0" marR="0" rtl="0" algn="l">
                        <a:spcBef>
                          <a:spcPts val="0"/>
                        </a:spcBef>
                        <a:spcAft>
                          <a:spcPts val="0"/>
                        </a:spcAft>
                        <a:buNone/>
                      </a:pPr>
                      <a:r>
                        <a:rPr lang="en-GB" sz="1800"/>
                        <a:t>76%</a:t>
                      </a:r>
                      <a:endParaRPr sz="1800"/>
                    </a:p>
                  </a:txBody>
                  <a:tcPr marT="45725" marB="45725" marR="91450" marL="91450"/>
                </a:tc>
                <a:tc>
                  <a:txBody>
                    <a:bodyPr/>
                    <a:lstStyle/>
                    <a:p>
                      <a:pPr indent="0" lvl="0" marL="0" marR="0" rtl="0" algn="l">
                        <a:spcBef>
                          <a:spcPts val="0"/>
                        </a:spcBef>
                        <a:spcAft>
                          <a:spcPts val="0"/>
                        </a:spcAft>
                        <a:buNone/>
                      </a:pPr>
                      <a:r>
                        <a:rPr lang="en-GB" sz="1800"/>
                        <a:t>0.75</a:t>
                      </a:r>
                      <a:endParaRPr sz="1800"/>
                    </a:p>
                  </a:txBody>
                  <a:tcPr marT="45725" marB="45725" marR="91450" marL="91450"/>
                </a:tc>
                <a:tc>
                  <a:txBody>
                    <a:bodyPr/>
                    <a:lstStyle/>
                    <a:p>
                      <a:pPr indent="0" lvl="0" marL="0" marR="0" rtl="0" algn="l">
                        <a:spcBef>
                          <a:spcPts val="0"/>
                        </a:spcBef>
                        <a:spcAft>
                          <a:spcPts val="0"/>
                        </a:spcAft>
                        <a:buNone/>
                      </a:pPr>
                      <a:r>
                        <a:rPr lang="en-GB" sz="1800"/>
                        <a:t>0.94</a:t>
                      </a:r>
                      <a:endParaRPr sz="1800"/>
                    </a:p>
                  </a:txBody>
                  <a:tcPr marT="45725" marB="45725" marR="91450" marL="91450"/>
                </a:tc>
                <a:tc>
                  <a:txBody>
                    <a:bodyPr/>
                    <a:lstStyle/>
                    <a:p>
                      <a:pPr indent="0" lvl="0" marL="0" marR="0" rtl="0" algn="l">
                        <a:spcBef>
                          <a:spcPts val="0"/>
                        </a:spcBef>
                        <a:spcAft>
                          <a:spcPts val="0"/>
                        </a:spcAft>
                        <a:buNone/>
                      </a:pPr>
                      <a:r>
                        <a:rPr lang="en-GB" sz="1800"/>
                        <a:t>0.83</a:t>
                      </a:r>
                      <a:endParaRPr sz="1800"/>
                    </a:p>
                  </a:txBody>
                  <a:tcPr marT="45725" marB="45725" marR="91450" marL="91450">
                    <a:solidFill>
                      <a:schemeClr val="accent4"/>
                    </a:solidFill>
                  </a:tcPr>
                </a:tc>
              </a:tr>
              <a:tr h="402100">
                <a:tc>
                  <a:txBody>
                    <a:bodyPr/>
                    <a:lstStyle/>
                    <a:p>
                      <a:pPr indent="0" lvl="0" marL="0" marR="0" rtl="0" algn="l">
                        <a:spcBef>
                          <a:spcPts val="0"/>
                        </a:spcBef>
                        <a:spcAft>
                          <a:spcPts val="0"/>
                        </a:spcAft>
                        <a:buNone/>
                      </a:pPr>
                      <a:r>
                        <a:rPr lang="en-GB" sz="1800"/>
                        <a:t>BERT</a:t>
                      </a:r>
                      <a:endParaRPr sz="1800"/>
                    </a:p>
                  </a:txBody>
                  <a:tcPr marT="45725" marB="45725" marR="91450" marL="91450"/>
                </a:tc>
                <a:tc>
                  <a:txBody>
                    <a:bodyPr/>
                    <a:lstStyle/>
                    <a:p>
                      <a:pPr indent="0" lvl="0" marL="0" marR="0" rtl="0" algn="l">
                        <a:spcBef>
                          <a:spcPts val="0"/>
                        </a:spcBef>
                        <a:spcAft>
                          <a:spcPts val="0"/>
                        </a:spcAft>
                        <a:buNone/>
                      </a:pPr>
                      <a:r>
                        <a:rPr lang="en-GB" sz="1800"/>
                        <a:t>75%</a:t>
                      </a:r>
                      <a:endParaRPr sz="1800"/>
                    </a:p>
                  </a:txBody>
                  <a:tcPr marT="45725" marB="45725" marR="91450" marL="91450"/>
                </a:tc>
                <a:tc>
                  <a:txBody>
                    <a:bodyPr/>
                    <a:lstStyle/>
                    <a:p>
                      <a:pPr indent="0" lvl="0" marL="0" marR="0" rtl="0" algn="l">
                        <a:spcBef>
                          <a:spcPts val="0"/>
                        </a:spcBef>
                        <a:spcAft>
                          <a:spcPts val="0"/>
                        </a:spcAft>
                        <a:buNone/>
                      </a:pPr>
                      <a:r>
                        <a:rPr lang="en-GB" sz="1800"/>
                        <a:t>0.79</a:t>
                      </a:r>
                      <a:endParaRPr sz="1800"/>
                    </a:p>
                  </a:txBody>
                  <a:tcPr marT="45725" marB="45725" marR="91450" marL="91450"/>
                </a:tc>
                <a:tc>
                  <a:txBody>
                    <a:bodyPr/>
                    <a:lstStyle/>
                    <a:p>
                      <a:pPr indent="0" lvl="0" marL="0" marR="0" rtl="0" algn="l">
                        <a:spcBef>
                          <a:spcPts val="0"/>
                        </a:spcBef>
                        <a:spcAft>
                          <a:spcPts val="0"/>
                        </a:spcAft>
                        <a:buNone/>
                      </a:pPr>
                      <a:r>
                        <a:rPr lang="en-GB" sz="1800"/>
                        <a:t>0.83</a:t>
                      </a:r>
                      <a:endParaRPr sz="1800"/>
                    </a:p>
                  </a:txBody>
                  <a:tcPr marT="45725" marB="45725" marR="91450" marL="91450"/>
                </a:tc>
                <a:tc>
                  <a:txBody>
                    <a:bodyPr/>
                    <a:lstStyle/>
                    <a:p>
                      <a:pPr indent="0" lvl="0" marL="0" marR="0" rtl="0" algn="l">
                        <a:spcBef>
                          <a:spcPts val="0"/>
                        </a:spcBef>
                        <a:spcAft>
                          <a:spcPts val="0"/>
                        </a:spcAft>
                        <a:buNone/>
                      </a:pPr>
                      <a:r>
                        <a:rPr lang="en-GB" sz="1800"/>
                        <a:t>0.81</a:t>
                      </a:r>
                      <a:endParaRPr sz="1800"/>
                    </a:p>
                  </a:txBody>
                  <a:tcPr marT="45725" marB="45725" marR="91450" marL="91450"/>
                </a:tc>
              </a:tr>
              <a:tr h="402100">
                <a:tc>
                  <a:txBody>
                    <a:bodyPr/>
                    <a:lstStyle/>
                    <a:p>
                      <a:pPr indent="0" lvl="0" marL="0" marR="0" rtl="0" algn="l">
                        <a:spcBef>
                          <a:spcPts val="0"/>
                        </a:spcBef>
                        <a:spcAft>
                          <a:spcPts val="0"/>
                        </a:spcAft>
                        <a:buNone/>
                      </a:pPr>
                      <a:r>
                        <a:rPr lang="en-GB" sz="1800"/>
                        <a:t>RoBERTa</a:t>
                      </a:r>
                      <a:endParaRPr sz="1800"/>
                    </a:p>
                  </a:txBody>
                  <a:tcPr marT="45725" marB="45725" marR="91450" marL="91450"/>
                </a:tc>
                <a:tc>
                  <a:txBody>
                    <a:bodyPr/>
                    <a:lstStyle/>
                    <a:p>
                      <a:pPr indent="0" lvl="0" marL="0" marR="0" rtl="0" algn="l">
                        <a:spcBef>
                          <a:spcPts val="0"/>
                        </a:spcBef>
                        <a:spcAft>
                          <a:spcPts val="0"/>
                        </a:spcAft>
                        <a:buNone/>
                      </a:pPr>
                      <a:r>
                        <a:rPr lang="en-GB" sz="1800"/>
                        <a:t>77%</a:t>
                      </a:r>
                      <a:endParaRPr sz="1800"/>
                    </a:p>
                  </a:txBody>
                  <a:tcPr marT="45725" marB="45725" marR="91450" marL="91450">
                    <a:solidFill>
                      <a:srgbClr val="CDD4EA"/>
                    </a:solidFill>
                  </a:tcPr>
                </a:tc>
                <a:tc>
                  <a:txBody>
                    <a:bodyPr/>
                    <a:lstStyle/>
                    <a:p>
                      <a:pPr indent="0" lvl="0" marL="0" marR="0" rtl="0" algn="l">
                        <a:spcBef>
                          <a:spcPts val="0"/>
                        </a:spcBef>
                        <a:spcAft>
                          <a:spcPts val="0"/>
                        </a:spcAft>
                        <a:buNone/>
                      </a:pPr>
                      <a:r>
                        <a:rPr lang="en-GB" sz="1800"/>
                        <a:t>0.79</a:t>
                      </a:r>
                      <a:endParaRPr sz="1800"/>
                    </a:p>
                  </a:txBody>
                  <a:tcPr marT="45725" marB="45725" marR="91450" marL="91450"/>
                </a:tc>
                <a:tc>
                  <a:txBody>
                    <a:bodyPr/>
                    <a:lstStyle/>
                    <a:p>
                      <a:pPr indent="0" lvl="0" marL="0" marR="0" rtl="0" algn="l">
                        <a:spcBef>
                          <a:spcPts val="0"/>
                        </a:spcBef>
                        <a:spcAft>
                          <a:spcPts val="0"/>
                        </a:spcAft>
                        <a:buNone/>
                      </a:pPr>
                      <a:r>
                        <a:rPr lang="en-GB" sz="1800"/>
                        <a:t>0.88</a:t>
                      </a:r>
                      <a:endParaRPr sz="1800"/>
                    </a:p>
                  </a:txBody>
                  <a:tcPr marT="45725" marB="45725" marR="91450" marL="91450"/>
                </a:tc>
                <a:tc>
                  <a:txBody>
                    <a:bodyPr/>
                    <a:lstStyle/>
                    <a:p>
                      <a:pPr indent="0" lvl="0" marL="0" marR="0" rtl="0" algn="l">
                        <a:spcBef>
                          <a:spcPts val="0"/>
                        </a:spcBef>
                        <a:spcAft>
                          <a:spcPts val="0"/>
                        </a:spcAft>
                        <a:buNone/>
                      </a:pPr>
                      <a:r>
                        <a:rPr lang="en-GB" sz="1800"/>
                        <a:t>0.83</a:t>
                      </a:r>
                      <a:endParaRPr sz="1800"/>
                    </a:p>
                  </a:txBody>
                  <a:tcPr marT="45725" marB="45725" marR="91450" marL="91450">
                    <a:solidFill>
                      <a:schemeClr val="accent4"/>
                    </a:solidFill>
                  </a:tcPr>
                </a:tc>
              </a:tr>
              <a:tr h="402100">
                <a:tc>
                  <a:txBody>
                    <a:bodyPr/>
                    <a:lstStyle/>
                    <a:p>
                      <a:pPr indent="0" lvl="0" marL="0" marR="0" rtl="0" algn="l">
                        <a:spcBef>
                          <a:spcPts val="0"/>
                        </a:spcBef>
                        <a:spcAft>
                          <a:spcPts val="0"/>
                        </a:spcAft>
                        <a:buNone/>
                      </a:pPr>
                      <a:r>
                        <a:rPr lang="en-GB" sz="1800"/>
                        <a:t>DeBERTa</a:t>
                      </a:r>
                      <a:endParaRPr sz="1800"/>
                    </a:p>
                  </a:txBody>
                  <a:tcPr marT="45725" marB="45725" marR="91450" marL="91450"/>
                </a:tc>
                <a:tc>
                  <a:txBody>
                    <a:bodyPr/>
                    <a:lstStyle/>
                    <a:p>
                      <a:pPr indent="0" lvl="0" marL="0" marR="0" rtl="0" algn="l">
                        <a:spcBef>
                          <a:spcPts val="0"/>
                        </a:spcBef>
                        <a:spcAft>
                          <a:spcPts val="0"/>
                        </a:spcAft>
                        <a:buNone/>
                      </a:pPr>
                      <a:r>
                        <a:rPr lang="en-GB" sz="1800"/>
                        <a:t>72%</a:t>
                      </a:r>
                      <a:endParaRPr sz="1800"/>
                    </a:p>
                  </a:txBody>
                  <a:tcPr marT="45725" marB="45725" marR="91450" marL="91450"/>
                </a:tc>
                <a:tc>
                  <a:txBody>
                    <a:bodyPr/>
                    <a:lstStyle/>
                    <a:p>
                      <a:pPr indent="0" lvl="0" marL="0" marR="0" rtl="0" algn="l">
                        <a:spcBef>
                          <a:spcPts val="0"/>
                        </a:spcBef>
                        <a:spcAft>
                          <a:spcPts val="0"/>
                        </a:spcAft>
                        <a:buNone/>
                      </a:pPr>
                      <a:r>
                        <a:rPr lang="en-GB" sz="1800"/>
                        <a:t>0.71</a:t>
                      </a:r>
                      <a:endParaRPr sz="1800"/>
                    </a:p>
                  </a:txBody>
                  <a:tcPr marT="45725" marB="45725" marR="91450" marL="91450"/>
                </a:tc>
                <a:tc>
                  <a:txBody>
                    <a:bodyPr/>
                    <a:lstStyle/>
                    <a:p>
                      <a:pPr indent="0" lvl="0" marL="0" marR="0" rtl="0" algn="l">
                        <a:spcBef>
                          <a:spcPts val="0"/>
                        </a:spcBef>
                        <a:spcAft>
                          <a:spcPts val="0"/>
                        </a:spcAft>
                        <a:buNone/>
                      </a:pPr>
                      <a:r>
                        <a:rPr lang="en-GB" sz="1800"/>
                        <a:t>0.94</a:t>
                      </a:r>
                      <a:endParaRPr sz="1800"/>
                    </a:p>
                  </a:txBody>
                  <a:tcPr marT="45725" marB="45725" marR="91450" marL="91450"/>
                </a:tc>
                <a:tc>
                  <a:txBody>
                    <a:bodyPr/>
                    <a:lstStyle/>
                    <a:p>
                      <a:pPr indent="0" lvl="0" marL="0" marR="0" rtl="0" algn="l">
                        <a:spcBef>
                          <a:spcPts val="0"/>
                        </a:spcBef>
                        <a:spcAft>
                          <a:spcPts val="0"/>
                        </a:spcAft>
                        <a:buNone/>
                      </a:pPr>
                      <a:r>
                        <a:rPr lang="en-GB" sz="1800"/>
                        <a:t>0.81</a:t>
                      </a:r>
                      <a:endParaRPr sz="1800"/>
                    </a:p>
                  </a:txBody>
                  <a:tcPr marT="45725" marB="45725" marR="91450" marL="91450"/>
                </a:tc>
              </a:tr>
              <a:tr h="402100">
                <a:tc>
                  <a:txBody>
                    <a:bodyPr/>
                    <a:lstStyle/>
                    <a:p>
                      <a:pPr indent="0" lvl="0" marL="0" marR="0" rtl="0" algn="l">
                        <a:spcBef>
                          <a:spcPts val="0"/>
                        </a:spcBef>
                        <a:spcAft>
                          <a:spcPts val="0"/>
                        </a:spcAft>
                        <a:buNone/>
                      </a:pPr>
                      <a:r>
                        <a:rPr lang="en-GB" sz="1800"/>
                        <a:t>XLNet</a:t>
                      </a:r>
                      <a:endParaRPr sz="1800"/>
                    </a:p>
                  </a:txBody>
                  <a:tcPr marT="45725" marB="45725" marR="91450" marL="91450"/>
                </a:tc>
                <a:tc>
                  <a:txBody>
                    <a:bodyPr/>
                    <a:lstStyle/>
                    <a:p>
                      <a:pPr indent="0" lvl="0" marL="0" marR="0" rtl="0" algn="l">
                        <a:spcBef>
                          <a:spcPts val="0"/>
                        </a:spcBef>
                        <a:spcAft>
                          <a:spcPts val="0"/>
                        </a:spcAft>
                        <a:buNone/>
                      </a:pPr>
                      <a:r>
                        <a:rPr lang="en-GB" sz="1800"/>
                        <a:t>75%</a:t>
                      </a:r>
                      <a:endParaRPr sz="1800"/>
                    </a:p>
                  </a:txBody>
                  <a:tcPr marT="45725" marB="45725" marR="91450" marL="91450"/>
                </a:tc>
                <a:tc>
                  <a:txBody>
                    <a:bodyPr/>
                    <a:lstStyle/>
                    <a:p>
                      <a:pPr indent="0" lvl="0" marL="0" marR="0" rtl="0" algn="l">
                        <a:spcBef>
                          <a:spcPts val="0"/>
                        </a:spcBef>
                        <a:spcAft>
                          <a:spcPts val="0"/>
                        </a:spcAft>
                        <a:buNone/>
                      </a:pPr>
                      <a:r>
                        <a:rPr lang="en-GB" sz="1800"/>
                        <a:t>0.78</a:t>
                      </a:r>
                      <a:endParaRPr sz="1800"/>
                    </a:p>
                  </a:txBody>
                  <a:tcPr marT="45725" marB="45725" marR="91450" marL="91450"/>
                </a:tc>
                <a:tc>
                  <a:txBody>
                    <a:bodyPr/>
                    <a:lstStyle/>
                    <a:p>
                      <a:pPr indent="0" lvl="0" marL="0" marR="0" rtl="0" algn="l">
                        <a:spcBef>
                          <a:spcPts val="0"/>
                        </a:spcBef>
                        <a:spcAft>
                          <a:spcPts val="0"/>
                        </a:spcAft>
                        <a:buNone/>
                      </a:pPr>
                      <a:r>
                        <a:rPr lang="en-GB" sz="1800"/>
                        <a:t>0.86</a:t>
                      </a:r>
                      <a:endParaRPr sz="1800"/>
                    </a:p>
                  </a:txBody>
                  <a:tcPr marT="45725" marB="45725" marR="91450" marL="91450"/>
                </a:tc>
                <a:tc>
                  <a:txBody>
                    <a:bodyPr/>
                    <a:lstStyle/>
                    <a:p>
                      <a:pPr indent="0" lvl="0" marL="0" marR="0" rtl="0" algn="l">
                        <a:spcBef>
                          <a:spcPts val="0"/>
                        </a:spcBef>
                        <a:spcAft>
                          <a:spcPts val="0"/>
                        </a:spcAft>
                        <a:buNone/>
                      </a:pPr>
                      <a:r>
                        <a:rPr lang="en-GB" sz="1800"/>
                        <a:t>0.81</a:t>
                      </a:r>
                      <a:endParaRPr sz="1800"/>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a6c6c2ddf1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F3864"/>
              </a:buClr>
              <a:buSzPts val="4400"/>
              <a:buFont typeface="Calibri"/>
              <a:buNone/>
            </a:pPr>
            <a:r>
              <a:rPr b="1" lang="en-GB">
                <a:solidFill>
                  <a:srgbClr val="1F3864"/>
                </a:solidFill>
              </a:rPr>
              <a:t>Transformer model Development &amp; Training</a:t>
            </a:r>
            <a:endParaRPr b="1">
              <a:solidFill>
                <a:srgbClr val="1F3864"/>
              </a:solidFill>
            </a:endParaRPr>
          </a:p>
        </p:txBody>
      </p:sp>
      <p:sp>
        <p:nvSpPr>
          <p:cNvPr id="195" name="Google Shape;195;g2a6c6c2ddf1_0_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14/12/2023</a:t>
            </a:r>
            <a:endParaRPr/>
          </a:p>
        </p:txBody>
      </p:sp>
      <p:sp>
        <p:nvSpPr>
          <p:cNvPr id="196" name="Google Shape;196;g2a6c6c2ddf1_0_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MSc Project Presentation -  Mrs Dinuja R Perera</a:t>
            </a:r>
            <a:endParaRPr/>
          </a:p>
        </p:txBody>
      </p:sp>
      <p:sp>
        <p:nvSpPr>
          <p:cNvPr id="197" name="Google Shape;197;g2a6c6c2ddf1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98" name="Google Shape;198;g2a6c6c2ddf1_0_0"/>
          <p:cNvGraphicFramePr/>
          <p:nvPr/>
        </p:nvGraphicFramePr>
        <p:xfrm>
          <a:off x="1669002" y="2299316"/>
          <a:ext cx="3000000" cy="3000000"/>
        </p:xfrm>
        <a:graphic>
          <a:graphicData uri="http://schemas.openxmlformats.org/drawingml/2006/table">
            <a:tbl>
              <a:tblPr bandRow="1" firstRow="1">
                <a:noFill/>
                <a:tableStyleId>{92E2A7E1-34C9-4964-AB48-9E1F306D2C89}</a:tableStyleId>
              </a:tblPr>
              <a:tblGrid>
                <a:gridCol w="1685775"/>
                <a:gridCol w="1685775"/>
                <a:gridCol w="1685775"/>
                <a:gridCol w="1685775"/>
                <a:gridCol w="1685775"/>
              </a:tblGrid>
              <a:tr h="694025">
                <a:tc>
                  <a:txBody>
                    <a:bodyPr/>
                    <a:lstStyle/>
                    <a:p>
                      <a:pPr indent="0" lvl="0" marL="0" marR="0" rtl="0" algn="l">
                        <a:spcBef>
                          <a:spcPts val="0"/>
                        </a:spcBef>
                        <a:spcAft>
                          <a:spcPts val="0"/>
                        </a:spcAft>
                        <a:buNone/>
                      </a:pPr>
                      <a:r>
                        <a:rPr lang="en-GB" sz="1800" u="none" cap="none" strike="noStrike"/>
                        <a:t>Language Model</a:t>
                      </a:r>
                      <a:endParaRPr sz="1800"/>
                    </a:p>
                  </a:txBody>
                  <a:tcPr marT="45725" marB="45725" marR="91450" marL="91450"/>
                </a:tc>
                <a:tc>
                  <a:txBody>
                    <a:bodyPr/>
                    <a:lstStyle/>
                    <a:p>
                      <a:pPr indent="0" lvl="0" marL="0" marR="0" rtl="0" algn="l">
                        <a:spcBef>
                          <a:spcPts val="0"/>
                        </a:spcBef>
                        <a:spcAft>
                          <a:spcPts val="0"/>
                        </a:spcAft>
                        <a:buNone/>
                      </a:pPr>
                      <a:r>
                        <a:rPr lang="en-GB" sz="1800"/>
                        <a:t>Accuracy</a:t>
                      </a:r>
                      <a:endParaRPr sz="1800"/>
                    </a:p>
                  </a:txBody>
                  <a:tcPr marT="45725" marB="45725" marR="91450" marL="91450"/>
                </a:tc>
                <a:tc>
                  <a:txBody>
                    <a:bodyPr/>
                    <a:lstStyle/>
                    <a:p>
                      <a:pPr indent="0" lvl="0" marL="0" marR="0" rtl="0" algn="l">
                        <a:spcBef>
                          <a:spcPts val="0"/>
                        </a:spcBef>
                        <a:spcAft>
                          <a:spcPts val="0"/>
                        </a:spcAft>
                        <a:buNone/>
                      </a:pPr>
                      <a:r>
                        <a:rPr lang="en-GB" sz="1800"/>
                        <a:t>Precision</a:t>
                      </a:r>
                      <a:endParaRPr sz="1800"/>
                    </a:p>
                  </a:txBody>
                  <a:tcPr marT="45725" marB="45725" marR="91450" marL="91450"/>
                </a:tc>
                <a:tc>
                  <a:txBody>
                    <a:bodyPr/>
                    <a:lstStyle/>
                    <a:p>
                      <a:pPr indent="0" lvl="0" marL="0" marR="0" rtl="0" algn="l">
                        <a:spcBef>
                          <a:spcPts val="0"/>
                        </a:spcBef>
                        <a:spcAft>
                          <a:spcPts val="0"/>
                        </a:spcAft>
                        <a:buNone/>
                      </a:pPr>
                      <a:r>
                        <a:rPr lang="en-GB" sz="1800"/>
                        <a:t>Recall</a:t>
                      </a:r>
                      <a:endParaRPr sz="1800"/>
                    </a:p>
                  </a:txBody>
                  <a:tcPr marT="45725" marB="45725" marR="91450" marL="91450"/>
                </a:tc>
                <a:tc>
                  <a:txBody>
                    <a:bodyPr/>
                    <a:lstStyle/>
                    <a:p>
                      <a:pPr indent="0" lvl="0" marL="0" marR="0" rtl="0" algn="l">
                        <a:spcBef>
                          <a:spcPts val="0"/>
                        </a:spcBef>
                        <a:spcAft>
                          <a:spcPts val="0"/>
                        </a:spcAft>
                        <a:buNone/>
                      </a:pPr>
                      <a:r>
                        <a:rPr lang="en-GB" sz="1800"/>
                        <a:t>F1-score</a:t>
                      </a:r>
                      <a:endParaRPr sz="1800"/>
                    </a:p>
                  </a:txBody>
                  <a:tcPr marT="45725" marB="45725" marR="91450" marL="91450"/>
                </a:tc>
              </a:tr>
              <a:tr h="402100">
                <a:tc>
                  <a:txBody>
                    <a:bodyPr/>
                    <a:lstStyle/>
                    <a:p>
                      <a:pPr indent="0" lvl="0" marL="0" marR="0" rtl="0" algn="l">
                        <a:spcBef>
                          <a:spcPts val="0"/>
                        </a:spcBef>
                        <a:spcAft>
                          <a:spcPts val="0"/>
                        </a:spcAft>
                        <a:buNone/>
                      </a:pPr>
                      <a:r>
                        <a:rPr lang="en-GB" sz="1800"/>
                        <a:t>DistilBERT</a:t>
                      </a:r>
                      <a:endParaRPr sz="1800"/>
                    </a:p>
                  </a:txBody>
                  <a:tcPr marT="45725" marB="45725" marR="91450" marL="91450">
                    <a:solidFill>
                      <a:srgbClr val="CDD4EA"/>
                    </a:solidFill>
                  </a:tcPr>
                </a:tc>
                <a:tc>
                  <a:txBody>
                    <a:bodyPr/>
                    <a:lstStyle/>
                    <a:p>
                      <a:pPr indent="0" lvl="0" marL="0" marR="0" rtl="0" algn="l">
                        <a:spcBef>
                          <a:spcPts val="0"/>
                        </a:spcBef>
                        <a:spcAft>
                          <a:spcPts val="0"/>
                        </a:spcAft>
                        <a:buNone/>
                      </a:pPr>
                      <a:r>
                        <a:rPr lang="en-GB" sz="1800"/>
                        <a:t>74%</a:t>
                      </a:r>
                      <a:endParaRPr sz="1800"/>
                    </a:p>
                  </a:txBody>
                  <a:tcPr marT="45725" marB="45725" marR="91450" marL="91450"/>
                </a:tc>
                <a:tc>
                  <a:txBody>
                    <a:bodyPr/>
                    <a:lstStyle/>
                    <a:p>
                      <a:pPr indent="0" lvl="0" marL="0" marR="0" rtl="0" algn="l">
                        <a:spcBef>
                          <a:spcPts val="0"/>
                        </a:spcBef>
                        <a:spcAft>
                          <a:spcPts val="0"/>
                        </a:spcAft>
                        <a:buNone/>
                      </a:pPr>
                      <a:r>
                        <a:rPr lang="en-GB" sz="1800"/>
                        <a:t>0.77</a:t>
                      </a:r>
                      <a:endParaRPr sz="1800"/>
                    </a:p>
                  </a:txBody>
                  <a:tcPr marT="45725" marB="45725" marR="91450" marL="91450"/>
                </a:tc>
                <a:tc>
                  <a:txBody>
                    <a:bodyPr/>
                    <a:lstStyle/>
                    <a:p>
                      <a:pPr indent="0" lvl="0" marL="0" marR="0" rtl="0" algn="l">
                        <a:spcBef>
                          <a:spcPts val="0"/>
                        </a:spcBef>
                        <a:spcAft>
                          <a:spcPts val="0"/>
                        </a:spcAft>
                        <a:buNone/>
                      </a:pPr>
                      <a:r>
                        <a:rPr lang="en-GB" sz="1800"/>
                        <a:t>0.83</a:t>
                      </a:r>
                      <a:endParaRPr sz="1800"/>
                    </a:p>
                  </a:txBody>
                  <a:tcPr marT="45725" marB="45725" marR="91450" marL="91450"/>
                </a:tc>
                <a:tc>
                  <a:txBody>
                    <a:bodyPr/>
                    <a:lstStyle/>
                    <a:p>
                      <a:pPr indent="0" lvl="0" marL="0" marR="0" rtl="0" algn="l">
                        <a:spcBef>
                          <a:spcPts val="0"/>
                        </a:spcBef>
                        <a:spcAft>
                          <a:spcPts val="0"/>
                        </a:spcAft>
                        <a:buNone/>
                      </a:pPr>
                      <a:r>
                        <a:rPr lang="en-GB" sz="1800"/>
                        <a:t>0.80</a:t>
                      </a:r>
                      <a:endParaRPr sz="1800"/>
                    </a:p>
                  </a:txBody>
                  <a:tcPr marT="45725" marB="45725" marR="91450" marL="91450">
                    <a:solidFill>
                      <a:srgbClr val="CDD4EA"/>
                    </a:solidFill>
                  </a:tcPr>
                </a:tc>
              </a:tr>
              <a:tr h="402100">
                <a:tc>
                  <a:txBody>
                    <a:bodyPr/>
                    <a:lstStyle/>
                    <a:p>
                      <a:pPr indent="0" lvl="0" marL="0" marR="0" rtl="0" algn="l">
                        <a:spcBef>
                          <a:spcPts val="0"/>
                        </a:spcBef>
                        <a:spcAft>
                          <a:spcPts val="0"/>
                        </a:spcAft>
                        <a:buNone/>
                      </a:pPr>
                      <a:r>
                        <a:rPr lang="en-GB" sz="1800"/>
                        <a:t>BERT</a:t>
                      </a:r>
                      <a:endParaRPr sz="1800"/>
                    </a:p>
                  </a:txBody>
                  <a:tcPr marT="45725" marB="45725" marR="91450" marL="91450"/>
                </a:tc>
                <a:tc>
                  <a:txBody>
                    <a:bodyPr/>
                    <a:lstStyle/>
                    <a:p>
                      <a:pPr indent="0" lvl="0" marL="0" marR="0" rtl="0" algn="l">
                        <a:spcBef>
                          <a:spcPts val="0"/>
                        </a:spcBef>
                        <a:spcAft>
                          <a:spcPts val="0"/>
                        </a:spcAft>
                        <a:buNone/>
                      </a:pPr>
                      <a:r>
                        <a:rPr lang="en-GB" sz="1800"/>
                        <a:t>75%</a:t>
                      </a:r>
                      <a:endParaRPr sz="1800"/>
                    </a:p>
                  </a:txBody>
                  <a:tcPr marT="45725" marB="45725" marR="91450" marL="91450"/>
                </a:tc>
                <a:tc>
                  <a:txBody>
                    <a:bodyPr/>
                    <a:lstStyle/>
                    <a:p>
                      <a:pPr indent="0" lvl="0" marL="0" marR="0" rtl="0" algn="l">
                        <a:spcBef>
                          <a:spcPts val="0"/>
                        </a:spcBef>
                        <a:spcAft>
                          <a:spcPts val="0"/>
                        </a:spcAft>
                        <a:buNone/>
                      </a:pPr>
                      <a:r>
                        <a:rPr lang="en-GB" sz="1800"/>
                        <a:t>0.78</a:t>
                      </a:r>
                      <a:endParaRPr sz="1800"/>
                    </a:p>
                  </a:txBody>
                  <a:tcPr marT="45725" marB="45725" marR="91450" marL="91450"/>
                </a:tc>
                <a:tc>
                  <a:txBody>
                    <a:bodyPr/>
                    <a:lstStyle/>
                    <a:p>
                      <a:pPr indent="0" lvl="0" marL="0" marR="0" rtl="0" algn="l">
                        <a:spcBef>
                          <a:spcPts val="0"/>
                        </a:spcBef>
                        <a:spcAft>
                          <a:spcPts val="0"/>
                        </a:spcAft>
                        <a:buNone/>
                      </a:pPr>
                      <a:r>
                        <a:rPr lang="en-GB" sz="1800"/>
                        <a:t>0.84</a:t>
                      </a:r>
                      <a:endParaRPr sz="1800"/>
                    </a:p>
                  </a:txBody>
                  <a:tcPr marT="45725" marB="45725" marR="91450" marL="91450"/>
                </a:tc>
                <a:tc>
                  <a:txBody>
                    <a:bodyPr/>
                    <a:lstStyle/>
                    <a:p>
                      <a:pPr indent="0" lvl="0" marL="0" marR="0" rtl="0" algn="l">
                        <a:spcBef>
                          <a:spcPts val="0"/>
                        </a:spcBef>
                        <a:spcAft>
                          <a:spcPts val="0"/>
                        </a:spcAft>
                        <a:buNone/>
                      </a:pPr>
                      <a:r>
                        <a:rPr lang="en-GB" sz="1800"/>
                        <a:t>0.81</a:t>
                      </a:r>
                      <a:endParaRPr sz="1800"/>
                    </a:p>
                  </a:txBody>
                  <a:tcPr marT="45725" marB="45725" marR="91450" marL="91450"/>
                </a:tc>
              </a:tr>
              <a:tr h="402100">
                <a:tc>
                  <a:txBody>
                    <a:bodyPr/>
                    <a:lstStyle/>
                    <a:p>
                      <a:pPr indent="0" lvl="0" marL="0" marR="0" rtl="0" algn="l">
                        <a:spcBef>
                          <a:spcPts val="0"/>
                        </a:spcBef>
                        <a:spcAft>
                          <a:spcPts val="0"/>
                        </a:spcAft>
                        <a:buNone/>
                      </a:pPr>
                      <a:r>
                        <a:rPr lang="en-GB" sz="1800"/>
                        <a:t>RoBERTa</a:t>
                      </a:r>
                      <a:endParaRPr sz="1800"/>
                    </a:p>
                  </a:txBody>
                  <a:tcPr marT="45725" marB="45725" marR="91450" marL="91450"/>
                </a:tc>
                <a:tc>
                  <a:txBody>
                    <a:bodyPr/>
                    <a:lstStyle/>
                    <a:p>
                      <a:pPr indent="0" lvl="0" marL="0" marR="0" rtl="0" algn="l">
                        <a:spcBef>
                          <a:spcPts val="0"/>
                        </a:spcBef>
                        <a:spcAft>
                          <a:spcPts val="0"/>
                        </a:spcAft>
                        <a:buNone/>
                      </a:pPr>
                      <a:r>
                        <a:rPr lang="en-GB" sz="1800"/>
                        <a:t>76%</a:t>
                      </a:r>
                      <a:endParaRPr sz="1800"/>
                    </a:p>
                  </a:txBody>
                  <a:tcPr marT="45725" marB="45725" marR="91450" marL="91450">
                    <a:solidFill>
                      <a:srgbClr val="CDD4EA"/>
                    </a:solidFill>
                  </a:tcPr>
                </a:tc>
                <a:tc>
                  <a:txBody>
                    <a:bodyPr/>
                    <a:lstStyle/>
                    <a:p>
                      <a:pPr indent="0" lvl="0" marL="0" marR="0" rtl="0" algn="l">
                        <a:spcBef>
                          <a:spcPts val="0"/>
                        </a:spcBef>
                        <a:spcAft>
                          <a:spcPts val="0"/>
                        </a:spcAft>
                        <a:buNone/>
                      </a:pPr>
                      <a:r>
                        <a:rPr lang="en-GB" sz="1800"/>
                        <a:t>0.77</a:t>
                      </a:r>
                      <a:endParaRPr sz="1800"/>
                    </a:p>
                  </a:txBody>
                  <a:tcPr marT="45725" marB="45725" marR="91450" marL="91450"/>
                </a:tc>
                <a:tc>
                  <a:txBody>
                    <a:bodyPr/>
                    <a:lstStyle/>
                    <a:p>
                      <a:pPr indent="0" lvl="0" marL="0" marR="0" rtl="0" algn="l">
                        <a:spcBef>
                          <a:spcPts val="0"/>
                        </a:spcBef>
                        <a:spcAft>
                          <a:spcPts val="0"/>
                        </a:spcAft>
                        <a:buNone/>
                      </a:pPr>
                      <a:r>
                        <a:rPr lang="en-GB" sz="1800"/>
                        <a:t>0.88</a:t>
                      </a:r>
                      <a:endParaRPr sz="1800"/>
                    </a:p>
                  </a:txBody>
                  <a:tcPr marT="45725" marB="45725" marR="91450" marL="91450"/>
                </a:tc>
                <a:tc>
                  <a:txBody>
                    <a:bodyPr/>
                    <a:lstStyle/>
                    <a:p>
                      <a:pPr indent="0" lvl="0" marL="0" marR="0" rtl="0" algn="l">
                        <a:spcBef>
                          <a:spcPts val="0"/>
                        </a:spcBef>
                        <a:spcAft>
                          <a:spcPts val="0"/>
                        </a:spcAft>
                        <a:buNone/>
                      </a:pPr>
                      <a:r>
                        <a:rPr lang="en-GB" sz="1800"/>
                        <a:t>0.82</a:t>
                      </a:r>
                      <a:endParaRPr sz="1800"/>
                    </a:p>
                  </a:txBody>
                  <a:tcPr marT="45725" marB="45725" marR="91450" marL="91450">
                    <a:solidFill>
                      <a:srgbClr val="CDD4EA"/>
                    </a:solidFill>
                  </a:tcPr>
                </a:tc>
              </a:tr>
              <a:tr h="402100">
                <a:tc>
                  <a:txBody>
                    <a:bodyPr/>
                    <a:lstStyle/>
                    <a:p>
                      <a:pPr indent="0" lvl="0" marL="0" marR="0" rtl="0" algn="l">
                        <a:spcBef>
                          <a:spcPts val="0"/>
                        </a:spcBef>
                        <a:spcAft>
                          <a:spcPts val="0"/>
                        </a:spcAft>
                        <a:buNone/>
                      </a:pPr>
                      <a:r>
                        <a:rPr lang="en-GB" sz="1800"/>
                        <a:t>DeBERTa</a:t>
                      </a:r>
                      <a:endParaRPr sz="1800"/>
                    </a:p>
                  </a:txBody>
                  <a:tcPr marT="45725" marB="45725" marR="91450" marL="91450"/>
                </a:tc>
                <a:tc>
                  <a:txBody>
                    <a:bodyPr/>
                    <a:lstStyle/>
                    <a:p>
                      <a:pPr indent="0" lvl="0" marL="0" marR="0" rtl="0" algn="l">
                        <a:spcBef>
                          <a:spcPts val="0"/>
                        </a:spcBef>
                        <a:spcAft>
                          <a:spcPts val="0"/>
                        </a:spcAft>
                        <a:buNone/>
                      </a:pPr>
                      <a:r>
                        <a:rPr lang="en-GB" sz="1800"/>
                        <a:t>75%</a:t>
                      </a:r>
                      <a:endParaRPr sz="1800"/>
                    </a:p>
                  </a:txBody>
                  <a:tcPr marT="45725" marB="45725" marR="91450" marL="91450"/>
                </a:tc>
                <a:tc>
                  <a:txBody>
                    <a:bodyPr/>
                    <a:lstStyle/>
                    <a:p>
                      <a:pPr indent="0" lvl="0" marL="0" marR="0" rtl="0" algn="l">
                        <a:spcBef>
                          <a:spcPts val="0"/>
                        </a:spcBef>
                        <a:spcAft>
                          <a:spcPts val="0"/>
                        </a:spcAft>
                        <a:buNone/>
                      </a:pPr>
                      <a:r>
                        <a:rPr lang="en-GB" sz="1800"/>
                        <a:t>0.75</a:t>
                      </a:r>
                      <a:endParaRPr sz="1800"/>
                    </a:p>
                  </a:txBody>
                  <a:tcPr marT="45725" marB="45725" marR="91450" marL="91450"/>
                </a:tc>
                <a:tc>
                  <a:txBody>
                    <a:bodyPr/>
                    <a:lstStyle/>
                    <a:p>
                      <a:pPr indent="0" lvl="0" marL="0" marR="0" rtl="0" algn="l">
                        <a:spcBef>
                          <a:spcPts val="0"/>
                        </a:spcBef>
                        <a:spcAft>
                          <a:spcPts val="0"/>
                        </a:spcAft>
                        <a:buNone/>
                      </a:pPr>
                      <a:r>
                        <a:rPr lang="en-GB" sz="1800"/>
                        <a:t>0.90</a:t>
                      </a:r>
                      <a:endParaRPr sz="1800"/>
                    </a:p>
                  </a:txBody>
                  <a:tcPr marT="45725" marB="45725" marR="91450" marL="91450"/>
                </a:tc>
                <a:tc>
                  <a:txBody>
                    <a:bodyPr/>
                    <a:lstStyle/>
                    <a:p>
                      <a:pPr indent="0" lvl="0" marL="0" marR="0" rtl="0" algn="l">
                        <a:spcBef>
                          <a:spcPts val="0"/>
                        </a:spcBef>
                        <a:spcAft>
                          <a:spcPts val="0"/>
                        </a:spcAft>
                        <a:buNone/>
                      </a:pPr>
                      <a:r>
                        <a:rPr lang="en-GB" sz="1800"/>
                        <a:t>0.82</a:t>
                      </a:r>
                      <a:endParaRPr sz="1800"/>
                    </a:p>
                  </a:txBody>
                  <a:tcPr marT="45725" marB="45725" marR="91450" marL="91450">
                    <a:solidFill>
                      <a:srgbClr val="E8EBF5"/>
                    </a:solidFill>
                  </a:tcPr>
                </a:tc>
              </a:tr>
              <a:tr h="402100">
                <a:tc>
                  <a:txBody>
                    <a:bodyPr/>
                    <a:lstStyle/>
                    <a:p>
                      <a:pPr indent="0" lvl="0" marL="0" marR="0" rtl="0" algn="l">
                        <a:spcBef>
                          <a:spcPts val="0"/>
                        </a:spcBef>
                        <a:spcAft>
                          <a:spcPts val="0"/>
                        </a:spcAft>
                        <a:buNone/>
                      </a:pPr>
                      <a:r>
                        <a:rPr lang="en-GB" sz="1800"/>
                        <a:t>XLNet</a:t>
                      </a:r>
                      <a:endParaRPr sz="1800"/>
                    </a:p>
                  </a:txBody>
                  <a:tcPr marT="45725" marB="45725" marR="91450" marL="91450">
                    <a:solidFill>
                      <a:srgbClr val="C55A11"/>
                    </a:solidFill>
                  </a:tcPr>
                </a:tc>
                <a:tc>
                  <a:txBody>
                    <a:bodyPr/>
                    <a:lstStyle/>
                    <a:p>
                      <a:pPr indent="0" lvl="0" marL="0" marR="0" rtl="0" algn="l">
                        <a:spcBef>
                          <a:spcPts val="0"/>
                        </a:spcBef>
                        <a:spcAft>
                          <a:spcPts val="0"/>
                        </a:spcAft>
                        <a:buNone/>
                      </a:pPr>
                      <a:r>
                        <a:rPr lang="en-GB" sz="1800"/>
                        <a:t>76%</a:t>
                      </a:r>
                      <a:endParaRPr sz="1800"/>
                    </a:p>
                  </a:txBody>
                  <a:tcPr marT="45725" marB="45725" marR="91450" marL="91450"/>
                </a:tc>
                <a:tc>
                  <a:txBody>
                    <a:bodyPr/>
                    <a:lstStyle/>
                    <a:p>
                      <a:pPr indent="0" lvl="0" marL="0" marR="0" rtl="0" algn="l">
                        <a:spcBef>
                          <a:spcPts val="0"/>
                        </a:spcBef>
                        <a:spcAft>
                          <a:spcPts val="0"/>
                        </a:spcAft>
                        <a:buNone/>
                      </a:pPr>
                      <a:r>
                        <a:rPr lang="en-GB" sz="1800"/>
                        <a:t>0.75</a:t>
                      </a:r>
                      <a:endParaRPr sz="1800"/>
                    </a:p>
                  </a:txBody>
                  <a:tcPr marT="45725" marB="45725" marR="91450" marL="91450"/>
                </a:tc>
                <a:tc>
                  <a:txBody>
                    <a:bodyPr/>
                    <a:lstStyle/>
                    <a:p>
                      <a:pPr indent="0" lvl="0" marL="0" marR="0" rtl="0" algn="l">
                        <a:spcBef>
                          <a:spcPts val="0"/>
                        </a:spcBef>
                        <a:spcAft>
                          <a:spcPts val="0"/>
                        </a:spcAft>
                        <a:buNone/>
                      </a:pPr>
                      <a:r>
                        <a:rPr lang="en-GB" sz="1800"/>
                        <a:t>0.91</a:t>
                      </a:r>
                      <a:endParaRPr sz="1800"/>
                    </a:p>
                  </a:txBody>
                  <a:tcPr marT="45725" marB="45725" marR="91450" marL="91450"/>
                </a:tc>
                <a:tc>
                  <a:txBody>
                    <a:bodyPr/>
                    <a:lstStyle/>
                    <a:p>
                      <a:pPr indent="0" lvl="0" marL="0" marR="0" rtl="0" algn="l">
                        <a:spcBef>
                          <a:spcPts val="0"/>
                        </a:spcBef>
                        <a:spcAft>
                          <a:spcPts val="0"/>
                        </a:spcAft>
                        <a:buNone/>
                      </a:pPr>
                      <a:r>
                        <a:rPr lang="en-GB" sz="1800"/>
                        <a:t>0.83</a:t>
                      </a:r>
                      <a:endParaRPr sz="1800"/>
                    </a:p>
                  </a:txBody>
                  <a:tcPr marT="45725" marB="45725" marR="91450" marL="91450">
                    <a:solidFill>
                      <a:schemeClr val="accent4"/>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2a66fe91e16_0_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70000"/>
              </a:lnSpc>
              <a:spcBef>
                <a:spcPts val="0"/>
              </a:spcBef>
              <a:spcAft>
                <a:spcPts val="0"/>
              </a:spcAft>
              <a:buNone/>
            </a:pPr>
            <a:r>
              <a:rPr b="1" lang="en-GB">
                <a:solidFill>
                  <a:srgbClr val="1F3864"/>
                </a:solidFill>
              </a:rPr>
              <a:t>Stakeholders and Benefits</a:t>
            </a:r>
            <a:endParaRPr b="1" sz="6000"/>
          </a:p>
        </p:txBody>
      </p:sp>
      <p:sp>
        <p:nvSpPr>
          <p:cNvPr id="205" name="Google Shape;205;g2a66fe91e16_0_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b="1" lang="en-GB" sz="1900">
                <a:latin typeface="Roboto"/>
                <a:ea typeface="Roboto"/>
                <a:cs typeface="Roboto"/>
                <a:sym typeface="Roboto"/>
              </a:rPr>
              <a:t>Companies and Businesses</a:t>
            </a:r>
            <a:endParaRPr b="1" sz="1900">
              <a:latin typeface="Roboto"/>
              <a:ea typeface="Roboto"/>
              <a:cs typeface="Roboto"/>
              <a:sym typeface="Roboto"/>
            </a:endParaRPr>
          </a:p>
          <a:p>
            <a:pPr indent="-387350" lvl="0" marL="457200" rtl="0" algn="l">
              <a:spcBef>
                <a:spcPts val="1000"/>
              </a:spcBef>
              <a:spcAft>
                <a:spcPts val="0"/>
              </a:spcAft>
              <a:buSzPts val="2500"/>
              <a:buChar char="-"/>
            </a:pPr>
            <a:r>
              <a:rPr lang="en-GB" sz="1900">
                <a:latin typeface="Roboto"/>
                <a:ea typeface="Roboto"/>
                <a:cs typeface="Roboto"/>
                <a:sym typeface="Roboto"/>
              </a:rPr>
              <a:t>Gain valuable insights into customer opinions, sentiments, and preferences</a:t>
            </a:r>
            <a:endParaRPr sz="1900">
              <a:latin typeface="Roboto"/>
              <a:ea typeface="Roboto"/>
              <a:cs typeface="Roboto"/>
              <a:sym typeface="Roboto"/>
            </a:endParaRPr>
          </a:p>
          <a:p>
            <a:pPr indent="-387350" lvl="0" marL="457200" rtl="0" algn="l">
              <a:spcBef>
                <a:spcPts val="0"/>
              </a:spcBef>
              <a:spcAft>
                <a:spcPts val="0"/>
              </a:spcAft>
              <a:buSzPts val="2500"/>
              <a:buChar char="-"/>
            </a:pPr>
            <a:r>
              <a:rPr lang="en-GB" sz="1900">
                <a:latin typeface="Roboto"/>
                <a:ea typeface="Roboto"/>
                <a:cs typeface="Roboto"/>
                <a:sym typeface="Roboto"/>
              </a:rPr>
              <a:t>Reduce employee churn</a:t>
            </a:r>
            <a:endParaRPr sz="1900">
              <a:latin typeface="Roboto"/>
              <a:ea typeface="Roboto"/>
              <a:cs typeface="Roboto"/>
              <a:sym typeface="Roboto"/>
            </a:endParaRPr>
          </a:p>
          <a:p>
            <a:pPr indent="-387350" lvl="0" marL="457200" rtl="0" algn="l">
              <a:spcBef>
                <a:spcPts val="0"/>
              </a:spcBef>
              <a:spcAft>
                <a:spcPts val="0"/>
              </a:spcAft>
              <a:buSzPts val="2500"/>
              <a:buChar char="-"/>
            </a:pPr>
            <a:r>
              <a:rPr lang="en-GB" sz="1900">
                <a:latin typeface="Roboto"/>
                <a:ea typeface="Roboto"/>
                <a:cs typeface="Roboto"/>
                <a:sym typeface="Roboto"/>
              </a:rPr>
              <a:t>Help in product/service improvements, marketing strategies, and overall employee satisfaction</a:t>
            </a:r>
            <a:endParaRPr sz="1900">
              <a:latin typeface="Roboto"/>
              <a:ea typeface="Roboto"/>
              <a:cs typeface="Roboto"/>
              <a:sym typeface="Roboto"/>
            </a:endParaRPr>
          </a:p>
          <a:p>
            <a:pPr indent="0" lvl="0" marL="0" rtl="0" algn="l">
              <a:spcBef>
                <a:spcPts val="1000"/>
              </a:spcBef>
              <a:spcAft>
                <a:spcPts val="0"/>
              </a:spcAft>
              <a:buNone/>
            </a:pPr>
            <a:r>
              <a:rPr b="1" lang="en-GB" sz="1900">
                <a:latin typeface="Roboto"/>
                <a:ea typeface="Roboto"/>
                <a:cs typeface="Roboto"/>
                <a:sym typeface="Roboto"/>
              </a:rPr>
              <a:t>Researchers and Developers</a:t>
            </a:r>
            <a:endParaRPr b="1" sz="1900">
              <a:latin typeface="Roboto"/>
              <a:ea typeface="Roboto"/>
              <a:cs typeface="Roboto"/>
              <a:sym typeface="Roboto"/>
            </a:endParaRPr>
          </a:p>
          <a:p>
            <a:pPr indent="-349250" lvl="0" marL="457200" rtl="0" algn="l">
              <a:spcBef>
                <a:spcPts val="1000"/>
              </a:spcBef>
              <a:spcAft>
                <a:spcPts val="0"/>
              </a:spcAft>
              <a:buSzPts val="1900"/>
              <a:buFont typeface="Roboto"/>
              <a:buChar char="-"/>
            </a:pPr>
            <a:r>
              <a:rPr lang="en-GB" sz="1900">
                <a:latin typeface="Roboto"/>
                <a:ea typeface="Roboto"/>
                <a:cs typeface="Roboto"/>
                <a:sym typeface="Roboto"/>
              </a:rPr>
              <a:t>Provides a practical application of transformer-based models.</a:t>
            </a:r>
            <a:endParaRPr sz="1900">
              <a:latin typeface="Roboto"/>
              <a:ea typeface="Roboto"/>
              <a:cs typeface="Roboto"/>
              <a:sym typeface="Roboto"/>
            </a:endParaRPr>
          </a:p>
          <a:p>
            <a:pPr indent="0" lvl="0" marL="0" rtl="0" algn="l">
              <a:spcBef>
                <a:spcPts val="1000"/>
              </a:spcBef>
              <a:spcAft>
                <a:spcPts val="0"/>
              </a:spcAft>
              <a:buNone/>
            </a:pPr>
            <a:r>
              <a:rPr b="1" lang="en-GB" sz="1900">
                <a:latin typeface="Roboto"/>
                <a:ea typeface="Roboto"/>
                <a:cs typeface="Roboto"/>
                <a:sym typeface="Roboto"/>
              </a:rPr>
              <a:t>Investors and Decision Makers</a:t>
            </a:r>
            <a:endParaRPr b="1" sz="1900">
              <a:latin typeface="Roboto"/>
              <a:ea typeface="Roboto"/>
              <a:cs typeface="Roboto"/>
              <a:sym typeface="Roboto"/>
            </a:endParaRPr>
          </a:p>
          <a:p>
            <a:pPr indent="-349250" lvl="0" marL="457200" rtl="0" algn="l">
              <a:spcBef>
                <a:spcPts val="1000"/>
              </a:spcBef>
              <a:spcAft>
                <a:spcPts val="0"/>
              </a:spcAft>
              <a:buSzPts val="1900"/>
              <a:buFont typeface="Roboto"/>
              <a:buChar char="-"/>
            </a:pPr>
            <a:r>
              <a:rPr lang="en-GB" sz="1900">
                <a:latin typeface="Roboto"/>
                <a:ea typeface="Roboto"/>
                <a:cs typeface="Roboto"/>
                <a:sym typeface="Roboto"/>
              </a:rPr>
              <a:t>Helps them choose smarter investments using lots of employee data.</a:t>
            </a:r>
            <a:endParaRPr sz="1900">
              <a:latin typeface="Roboto"/>
              <a:ea typeface="Roboto"/>
              <a:cs typeface="Roboto"/>
              <a:sym typeface="Roboto"/>
            </a:endParaRPr>
          </a:p>
          <a:p>
            <a:pPr indent="0" lvl="0" marL="0" rtl="0" algn="l">
              <a:spcBef>
                <a:spcPts val="1000"/>
              </a:spcBef>
              <a:spcAft>
                <a:spcPts val="0"/>
              </a:spcAft>
              <a:buNone/>
            </a:pPr>
            <a:r>
              <a:rPr b="1" lang="en-GB" sz="1900">
                <a:latin typeface="Roboto"/>
                <a:ea typeface="Roboto"/>
                <a:cs typeface="Roboto"/>
                <a:sym typeface="Roboto"/>
              </a:rPr>
              <a:t>Online Review Platforms</a:t>
            </a:r>
            <a:endParaRPr b="1" sz="1900">
              <a:latin typeface="Roboto"/>
              <a:ea typeface="Roboto"/>
              <a:cs typeface="Roboto"/>
              <a:sym typeface="Roboto"/>
            </a:endParaRPr>
          </a:p>
          <a:p>
            <a:pPr indent="-349250" lvl="0" marL="457200" rtl="0" algn="l">
              <a:spcBef>
                <a:spcPts val="1000"/>
              </a:spcBef>
              <a:spcAft>
                <a:spcPts val="0"/>
              </a:spcAft>
              <a:buSzPts val="1900"/>
              <a:buFont typeface="Roboto"/>
              <a:buChar char="-"/>
            </a:pPr>
            <a:r>
              <a:rPr lang="en-GB" sz="1900">
                <a:latin typeface="Roboto"/>
                <a:ea typeface="Roboto"/>
                <a:cs typeface="Roboto"/>
                <a:sym typeface="Roboto"/>
              </a:rPr>
              <a:t>Platforms hosting reviews, like Glassdoor or similar websites, might benefit from improved sentiment analysis tools.</a:t>
            </a:r>
            <a:endParaRPr b="1" sz="1900">
              <a:latin typeface="Roboto"/>
              <a:ea typeface="Roboto"/>
              <a:cs typeface="Roboto"/>
              <a:sym typeface="Roboto"/>
            </a:endParaRPr>
          </a:p>
        </p:txBody>
      </p:sp>
      <p:sp>
        <p:nvSpPr>
          <p:cNvPr id="206" name="Google Shape;206;g2a66fe91e16_0_1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 name="Shape 211"/>
        <p:cNvGrpSpPr/>
        <p:nvPr/>
      </p:nvGrpSpPr>
      <p:grpSpPr>
        <a:xfrm>
          <a:off x="0" y="0"/>
          <a:ext cx="0" cy="0"/>
          <a:chOff x="0" y="0"/>
          <a:chExt cx="0" cy="0"/>
        </a:xfrm>
      </p:grpSpPr>
      <p:sp>
        <p:nvSpPr>
          <p:cNvPr id="212" name="Google Shape;212;p8"/>
          <p:cNvSpPr txBox="1"/>
          <p:nvPr>
            <p:ph type="title"/>
          </p:nvPr>
        </p:nvSpPr>
        <p:spPr>
          <a:xfrm>
            <a:off x="713912" y="23196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F3864"/>
              </a:buClr>
              <a:buSzPts val="4400"/>
              <a:buFont typeface="Calibri"/>
              <a:buNone/>
            </a:pPr>
            <a:r>
              <a:rPr b="1" lang="en-GB">
                <a:solidFill>
                  <a:srgbClr val="1F3864"/>
                </a:solidFill>
              </a:rPr>
              <a:t>Reflection</a:t>
            </a:r>
            <a:endParaRPr b="1">
              <a:solidFill>
                <a:srgbClr val="1F3864"/>
              </a:solidFill>
            </a:endParaRPr>
          </a:p>
        </p:txBody>
      </p:sp>
      <p:sp>
        <p:nvSpPr>
          <p:cNvPr id="213" name="Google Shape;213;p8"/>
          <p:cNvSpPr txBox="1"/>
          <p:nvPr>
            <p:ph idx="1" type="body"/>
          </p:nvPr>
        </p:nvSpPr>
        <p:spPr>
          <a:xfrm>
            <a:off x="781975" y="1399497"/>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1600"/>
              <a:buNone/>
            </a:pPr>
            <a:r>
              <a:rPr b="1" lang="en-GB" sz="1600"/>
              <a:t>Objectives Achieved:</a:t>
            </a:r>
            <a:endParaRPr/>
          </a:p>
          <a:p>
            <a:pPr indent="-228600" lvl="0" marL="228600" rtl="0" algn="l">
              <a:lnSpc>
                <a:spcPct val="110000"/>
              </a:lnSpc>
              <a:spcBef>
                <a:spcPts val="1000"/>
              </a:spcBef>
              <a:spcAft>
                <a:spcPts val="0"/>
              </a:spcAft>
              <a:buClr>
                <a:schemeClr val="dk1"/>
              </a:buClr>
              <a:buSzPts val="1600"/>
              <a:buChar char="•"/>
            </a:pPr>
            <a:r>
              <a:rPr lang="en-GB" sz="1600"/>
              <a:t>Sentiment Analysis: Accurately classified sentiments using transformer-based models.</a:t>
            </a:r>
            <a:endParaRPr/>
          </a:p>
          <a:p>
            <a:pPr indent="-228600" lvl="0" marL="228600" rtl="0" algn="l">
              <a:lnSpc>
                <a:spcPct val="110000"/>
              </a:lnSpc>
              <a:spcBef>
                <a:spcPts val="1000"/>
              </a:spcBef>
              <a:spcAft>
                <a:spcPts val="0"/>
              </a:spcAft>
              <a:buClr>
                <a:schemeClr val="dk1"/>
              </a:buClr>
              <a:buSzPts val="1600"/>
              <a:buChar char="•"/>
            </a:pPr>
            <a:r>
              <a:rPr lang="en-GB" sz="1600"/>
              <a:t>Topic Modelling &amp; Comparative Analysis: Unearthed prevalent themes and emerging trends in company reviews.</a:t>
            </a:r>
            <a:endParaRPr/>
          </a:p>
          <a:p>
            <a:pPr indent="-228600" lvl="0" marL="228600" rtl="0" algn="l">
              <a:lnSpc>
                <a:spcPct val="110000"/>
              </a:lnSpc>
              <a:spcBef>
                <a:spcPts val="1000"/>
              </a:spcBef>
              <a:spcAft>
                <a:spcPts val="0"/>
              </a:spcAft>
              <a:buClr>
                <a:schemeClr val="dk1"/>
              </a:buClr>
              <a:buSzPts val="1600"/>
              <a:buChar char="•"/>
            </a:pPr>
            <a:r>
              <a:rPr lang="en-GB" sz="1600"/>
              <a:t>Aspect-Based Sentiment Analysis: Identified specific aspects influencing sentiments.</a:t>
            </a:r>
            <a:endParaRPr/>
          </a:p>
          <a:p>
            <a:pPr indent="0" lvl="0" marL="0" rtl="0" algn="l">
              <a:lnSpc>
                <a:spcPct val="110000"/>
              </a:lnSpc>
              <a:spcBef>
                <a:spcPts val="1000"/>
              </a:spcBef>
              <a:spcAft>
                <a:spcPts val="0"/>
              </a:spcAft>
              <a:buClr>
                <a:schemeClr val="dk1"/>
              </a:buClr>
              <a:buSzPts val="1600"/>
              <a:buNone/>
            </a:pPr>
            <a:r>
              <a:rPr b="1" lang="en-GB" sz="1600"/>
              <a:t>Learnings &amp; Future Prospects:</a:t>
            </a:r>
            <a:endParaRPr/>
          </a:p>
          <a:p>
            <a:pPr indent="-228600" lvl="0" marL="228600" rtl="0" algn="l">
              <a:lnSpc>
                <a:spcPct val="110000"/>
              </a:lnSpc>
              <a:spcBef>
                <a:spcPts val="1000"/>
              </a:spcBef>
              <a:spcAft>
                <a:spcPts val="0"/>
              </a:spcAft>
              <a:buClr>
                <a:schemeClr val="dk1"/>
              </a:buClr>
              <a:buSzPts val="1600"/>
              <a:buChar char="•"/>
            </a:pPr>
            <a:r>
              <a:rPr lang="en-GB" sz="1600"/>
              <a:t>Holistic Insights: Comprehensive understanding of customer experiences and company strengths.</a:t>
            </a:r>
            <a:endParaRPr/>
          </a:p>
          <a:p>
            <a:pPr indent="-228600" lvl="0" marL="228600" rtl="0" algn="l">
              <a:lnSpc>
                <a:spcPct val="110000"/>
              </a:lnSpc>
              <a:spcBef>
                <a:spcPts val="1000"/>
              </a:spcBef>
              <a:spcAft>
                <a:spcPts val="0"/>
              </a:spcAft>
              <a:buClr>
                <a:schemeClr val="dk1"/>
              </a:buClr>
              <a:buSzPts val="1600"/>
              <a:buChar char="•"/>
            </a:pPr>
            <a:r>
              <a:rPr lang="en-GB" sz="1600"/>
              <a:t>Strategic Decision-Making: Enhanced planning for product, service improvements, and talent acquisition.</a:t>
            </a:r>
            <a:endParaRPr/>
          </a:p>
          <a:p>
            <a:pPr indent="-228600" lvl="0" marL="228600" rtl="0" algn="l">
              <a:lnSpc>
                <a:spcPct val="110000"/>
              </a:lnSpc>
              <a:spcBef>
                <a:spcPts val="1000"/>
              </a:spcBef>
              <a:spcAft>
                <a:spcPts val="0"/>
              </a:spcAft>
              <a:buClr>
                <a:schemeClr val="dk1"/>
              </a:buClr>
              <a:buSzPts val="1600"/>
              <a:buChar char="•"/>
            </a:pPr>
            <a:r>
              <a:rPr lang="en-GB" sz="1600"/>
              <a:t>Continual Improvement: Ongoing refinement of analysis for evolving insights and industry trends.</a:t>
            </a:r>
            <a:endParaRPr/>
          </a:p>
          <a:p>
            <a:pPr indent="0" lvl="0" marL="0" rtl="0" algn="l">
              <a:lnSpc>
                <a:spcPct val="110000"/>
              </a:lnSpc>
              <a:spcBef>
                <a:spcPts val="1000"/>
              </a:spcBef>
              <a:spcAft>
                <a:spcPts val="0"/>
              </a:spcAft>
              <a:buClr>
                <a:schemeClr val="dk1"/>
              </a:buClr>
              <a:buSzPts val="1600"/>
              <a:buNone/>
            </a:pPr>
            <a:r>
              <a:rPr b="1" lang="en-GB" sz="1600"/>
              <a:t>Impact &amp; Contribution:</a:t>
            </a:r>
            <a:endParaRPr/>
          </a:p>
          <a:p>
            <a:pPr indent="-228600" lvl="0" marL="228600" rtl="0" algn="l">
              <a:lnSpc>
                <a:spcPct val="110000"/>
              </a:lnSpc>
              <a:spcBef>
                <a:spcPts val="1000"/>
              </a:spcBef>
              <a:spcAft>
                <a:spcPts val="0"/>
              </a:spcAft>
              <a:buClr>
                <a:schemeClr val="dk1"/>
              </a:buClr>
              <a:buSzPts val="1600"/>
              <a:buChar char="•"/>
            </a:pPr>
            <a:r>
              <a:rPr lang="en-GB" sz="1600"/>
              <a:t>Job Seekers: Informed decisions about potential employers.</a:t>
            </a:r>
            <a:endParaRPr/>
          </a:p>
          <a:p>
            <a:pPr indent="-228600" lvl="0" marL="228600" rtl="0" algn="l">
              <a:lnSpc>
                <a:spcPct val="110000"/>
              </a:lnSpc>
              <a:spcBef>
                <a:spcPts val="1000"/>
              </a:spcBef>
              <a:spcAft>
                <a:spcPts val="0"/>
              </a:spcAft>
              <a:buClr>
                <a:schemeClr val="dk1"/>
              </a:buClr>
              <a:buSzPts val="1600"/>
              <a:buChar char="•"/>
            </a:pPr>
            <a:r>
              <a:rPr lang="en-GB" sz="1600"/>
              <a:t>Companies: Strategic improvements and planning.</a:t>
            </a:r>
            <a:endParaRPr/>
          </a:p>
          <a:p>
            <a:pPr indent="-228600" lvl="0" marL="228600" rtl="0" algn="l">
              <a:lnSpc>
                <a:spcPct val="110000"/>
              </a:lnSpc>
              <a:spcBef>
                <a:spcPts val="1000"/>
              </a:spcBef>
              <a:spcAft>
                <a:spcPts val="0"/>
              </a:spcAft>
              <a:buClr>
                <a:schemeClr val="dk1"/>
              </a:buClr>
              <a:buSzPts val="1600"/>
              <a:buChar char="•"/>
            </a:pPr>
            <a:r>
              <a:rPr lang="en-GB" sz="1600"/>
              <a:t>Glassdoor: Enhanced insights into company reviews.</a:t>
            </a:r>
            <a:endParaRPr/>
          </a:p>
        </p:txBody>
      </p:sp>
      <p:sp>
        <p:nvSpPr>
          <p:cNvPr id="214" name="Google Shape;21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14/12/2023</a:t>
            </a:r>
            <a:endParaRPr/>
          </a:p>
        </p:txBody>
      </p:sp>
      <p:sp>
        <p:nvSpPr>
          <p:cNvPr id="215" name="Google Shape;21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MSc Project Presentation -  Mrs Dinuja R Perera</a:t>
            </a:r>
            <a:endParaRPr/>
          </a:p>
        </p:txBody>
      </p:sp>
      <p:sp>
        <p:nvSpPr>
          <p:cNvPr id="216" name="Google Shape;21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9"/>
          <p:cNvSpPr txBox="1"/>
          <p:nvPr>
            <p:ph type="title"/>
          </p:nvPr>
        </p:nvSpPr>
        <p:spPr>
          <a:xfrm>
            <a:off x="838200" y="2552162"/>
            <a:ext cx="10515600" cy="3513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1F3864"/>
              </a:buClr>
              <a:buSzPts val="4400"/>
              <a:buFont typeface="Calibri"/>
              <a:buNone/>
            </a:pPr>
            <a:r>
              <a:rPr b="1" lang="en-GB">
                <a:solidFill>
                  <a:srgbClr val="1F3864"/>
                </a:solidFill>
              </a:rPr>
              <a:t>Demonstration…</a:t>
            </a:r>
            <a:endParaRPr b="1">
              <a:solidFill>
                <a:srgbClr val="1F3864"/>
              </a:solidFill>
            </a:endParaRPr>
          </a:p>
          <a:p>
            <a:pPr indent="0" lvl="0" marL="0" rtl="0" algn="ctr">
              <a:lnSpc>
                <a:spcPct val="90000"/>
              </a:lnSpc>
              <a:spcBef>
                <a:spcPts val="0"/>
              </a:spcBef>
              <a:spcAft>
                <a:spcPts val="0"/>
              </a:spcAft>
              <a:buClr>
                <a:srgbClr val="1F3864"/>
              </a:buClr>
              <a:buSzPts val="4400"/>
              <a:buFont typeface="Calibri"/>
              <a:buNone/>
            </a:pPr>
            <a:r>
              <a:t/>
            </a:r>
            <a:endParaRPr b="1">
              <a:solidFill>
                <a:srgbClr val="1F3864"/>
              </a:solidFill>
            </a:endParaRPr>
          </a:p>
          <a:p>
            <a:pPr indent="0" lvl="0" marL="0" rtl="0" algn="ctr">
              <a:lnSpc>
                <a:spcPct val="90000"/>
              </a:lnSpc>
              <a:spcBef>
                <a:spcPts val="0"/>
              </a:spcBef>
              <a:spcAft>
                <a:spcPts val="0"/>
              </a:spcAft>
              <a:buClr>
                <a:srgbClr val="1F3864"/>
              </a:buClr>
              <a:buSzPts val="4400"/>
              <a:buFont typeface="Calibri"/>
              <a:buNone/>
            </a:pPr>
            <a:r>
              <a:rPr b="1" lang="en-GB" sz="3100">
                <a:solidFill>
                  <a:srgbClr val="1F3864"/>
                </a:solidFill>
              </a:rPr>
              <a:t>Web Prototype</a:t>
            </a:r>
            <a:endParaRPr b="1" sz="3100">
              <a:solidFill>
                <a:srgbClr val="1F3864"/>
              </a:solidFill>
            </a:endParaRPr>
          </a:p>
          <a:p>
            <a:pPr indent="0" lvl="0" marL="0" rtl="0" algn="l">
              <a:spcBef>
                <a:spcPts val="1000"/>
              </a:spcBef>
              <a:spcAft>
                <a:spcPts val="0"/>
              </a:spcAft>
              <a:buClr>
                <a:schemeClr val="dk1"/>
              </a:buClr>
              <a:buSzPts val="1100"/>
              <a:buFont typeface="Arial"/>
              <a:buNone/>
            </a:pPr>
            <a:r>
              <a:rPr lang="en-GB" sz="2800"/>
              <a:t>http://project-uog.s3-website.eu-north-1.amazonaws.com</a:t>
            </a:r>
            <a:endParaRPr b="1">
              <a:solidFill>
                <a:srgbClr val="1F3864"/>
              </a:solidFill>
            </a:endParaRPr>
          </a:p>
        </p:txBody>
      </p:sp>
      <p:sp>
        <p:nvSpPr>
          <p:cNvPr id="222" name="Google Shape;22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14/12/2023</a:t>
            </a:r>
            <a:endParaRPr/>
          </a:p>
        </p:txBody>
      </p:sp>
      <p:sp>
        <p:nvSpPr>
          <p:cNvPr id="223" name="Google Shape;22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MSc Project Presentation -  Mrs Dinuja R Perera</a:t>
            </a:r>
            <a:endParaRPr/>
          </a:p>
        </p:txBody>
      </p:sp>
      <p:sp>
        <p:nvSpPr>
          <p:cNvPr id="224" name="Google Shape;22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2023-11-30T10:44:32Z</dcterms:created>
  <dc:creator>Dinuja Perera</dc:creator>
</cp:coreProperties>
</file>